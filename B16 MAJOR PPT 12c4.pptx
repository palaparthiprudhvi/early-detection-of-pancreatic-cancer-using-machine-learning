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68" r:id="rId4"/>
    <p:sldId id="258" r:id="rId5"/>
    <p:sldId id="290" r:id="rId6"/>
    <p:sldId id="259" r:id="rId7"/>
    <p:sldId id="292" r:id="rId8"/>
    <p:sldId id="269" r:id="rId9"/>
    <p:sldId id="270" r:id="rId10"/>
    <p:sldId id="271" r:id="rId11"/>
    <p:sldId id="272" r:id="rId12"/>
    <p:sldId id="273" r:id="rId13"/>
    <p:sldId id="274" r:id="rId14"/>
    <p:sldId id="279" r:id="rId15"/>
    <p:sldId id="276" r:id="rId16"/>
    <p:sldId id="280" r:id="rId17"/>
    <p:sldId id="277" r:id="rId18"/>
    <p:sldId id="281" r:id="rId19"/>
    <p:sldId id="282" r:id="rId20"/>
    <p:sldId id="283" r:id="rId21"/>
    <p:sldId id="284" r:id="rId22"/>
    <p:sldId id="285" r:id="rId23"/>
    <p:sldId id="291" r:id="rId24"/>
    <p:sldId id="286" r:id="rId25"/>
    <p:sldId id="287" r:id="rId26"/>
    <p:sldId id="288" r:id="rId27"/>
    <p:sldId id="289" r:id="rId28"/>
    <p:sldId id="267" r:id="rId2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8882F6-774C-45D8-8FE0-D9C2FEFEE9D2}" v="1" dt="2024-04-06T06:05:30.27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87179" autoAdjust="0"/>
  </p:normalViewPr>
  <p:slideViewPr>
    <p:cSldViewPr>
      <p:cViewPr varScale="1">
        <p:scale>
          <a:sx n="55" d="100"/>
          <a:sy n="55" d="100"/>
        </p:scale>
        <p:origin x="1500" y="4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va sai" userId="e1008ec155809451" providerId="LiveId" clId="{248882F6-774C-45D8-8FE0-D9C2FEFEE9D2}"/>
    <pc:docChg chg="modSld">
      <pc:chgData name="siva sai" userId="e1008ec155809451" providerId="LiveId" clId="{248882F6-774C-45D8-8FE0-D9C2FEFEE9D2}" dt="2024-04-06T06:05:30.273" v="6"/>
      <pc:docMkLst>
        <pc:docMk/>
      </pc:docMkLst>
      <pc:sldChg chg="modSp mod">
        <pc:chgData name="siva sai" userId="e1008ec155809451" providerId="LiveId" clId="{248882F6-774C-45D8-8FE0-D9C2FEFEE9D2}" dt="2024-04-06T06:05:30.273" v="6"/>
        <pc:sldMkLst>
          <pc:docMk/>
          <pc:sldMk cId="0" sldId="257"/>
        </pc:sldMkLst>
        <pc:spChg chg="mod">
          <ac:chgData name="siva sai" userId="e1008ec155809451" providerId="LiveId" clId="{248882F6-774C-45D8-8FE0-D9C2FEFEE9D2}" dt="2024-04-06T06:05:30.273" v="6"/>
          <ac:spMkLst>
            <pc:docMk/>
            <pc:sldMk cId="0" sldId="25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F8CC6C3B-8E10-4543-BBE5-C620CD8B2DDF}" type="datetimeFigureOut">
              <a:rPr lang="en-IN" smtClean="0"/>
              <a:t>06-04-2024</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A705FB45-CEA1-41B5-B167-2E2565C5C0A5}" type="slidenum">
              <a:rPr lang="en-IN" smtClean="0"/>
              <a:t>‹#›</a:t>
            </a:fld>
            <a:endParaRPr lang="en-IN"/>
          </a:p>
        </p:txBody>
      </p:sp>
    </p:spTree>
    <p:extLst>
      <p:ext uri="{BB962C8B-B14F-4D97-AF65-F5344CB8AC3E}">
        <p14:creationId xmlns:p14="http://schemas.microsoft.com/office/powerpoint/2010/main" val="822098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05FB45-CEA1-41B5-B167-2E2565C5C0A5}" type="slidenum">
              <a:rPr lang="en-IN" smtClean="0"/>
              <a:t>6</a:t>
            </a:fld>
            <a:endParaRPr lang="en-IN"/>
          </a:p>
        </p:txBody>
      </p:sp>
    </p:spTree>
    <p:extLst>
      <p:ext uri="{BB962C8B-B14F-4D97-AF65-F5344CB8AC3E}">
        <p14:creationId xmlns:p14="http://schemas.microsoft.com/office/powerpoint/2010/main" val="2837976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4/6/2024</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ct val="100000"/>
              </a:lnSpc>
              <a:spcBef>
                <a:spcPts val="65"/>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4/6/2024</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ct val="100000"/>
              </a:lnSpc>
              <a:spcBef>
                <a:spcPts val="65"/>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4/6/2024</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ct val="100000"/>
              </a:lnSpc>
              <a:spcBef>
                <a:spcPts val="65"/>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4/6/2024</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ct val="100000"/>
              </a:lnSpc>
              <a:spcBef>
                <a:spcPts val="65"/>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4/6/2024</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ct val="100000"/>
              </a:lnSpc>
              <a:spcBef>
                <a:spcPts val="65"/>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3999" cy="6857996"/>
          </a:xfrm>
          <a:prstGeom prst="rect">
            <a:avLst/>
          </a:prstGeom>
        </p:spPr>
      </p:pic>
      <p:sp>
        <p:nvSpPr>
          <p:cNvPr id="2" name="Holder 2"/>
          <p:cNvSpPr>
            <a:spLocks noGrp="1"/>
          </p:cNvSpPr>
          <p:nvPr>
            <p:ph type="title"/>
          </p:nvPr>
        </p:nvSpPr>
        <p:spPr>
          <a:xfrm>
            <a:off x="3458337" y="632586"/>
            <a:ext cx="2227325" cy="406400"/>
          </a:xfrm>
          <a:prstGeom prst="rect">
            <a:avLst/>
          </a:prstGeom>
        </p:spPr>
        <p:txBody>
          <a:bodyPr wrap="square" lIns="0" tIns="0" rIns="0" bIns="0">
            <a:spAutoFit/>
          </a:bodyPr>
          <a:lstStyle>
            <a:lvl1pPr>
              <a:defRPr sz="25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535940" y="1930349"/>
            <a:ext cx="8073390" cy="3062604"/>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4/6/2024</a:t>
            </a:fld>
            <a:endParaRPr lang="en-US"/>
          </a:p>
        </p:txBody>
      </p:sp>
      <p:sp>
        <p:nvSpPr>
          <p:cNvPr id="6" name="Holder 6"/>
          <p:cNvSpPr>
            <a:spLocks noGrp="1"/>
          </p:cNvSpPr>
          <p:nvPr>
            <p:ph type="sldNum" sz="quarter" idx="7"/>
          </p:nvPr>
        </p:nvSpPr>
        <p:spPr>
          <a:xfrm>
            <a:off x="8401557" y="6431076"/>
            <a:ext cx="231775" cy="21209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ct val="100000"/>
              </a:lnSpc>
              <a:spcBef>
                <a:spcPts val="65"/>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231" y="530462"/>
            <a:ext cx="6878320" cy="504625"/>
          </a:xfrm>
          <a:prstGeom prst="rect">
            <a:avLst/>
          </a:prstGeom>
        </p:spPr>
        <p:txBody>
          <a:bodyPr vert="horz" wrap="square" lIns="0" tIns="12065" rIns="0" bIns="0" rtlCol="0">
            <a:spAutoFit/>
          </a:bodyPr>
          <a:lstStyle/>
          <a:p>
            <a:pPr marL="2795270" marR="5080" indent="-2783205">
              <a:lnSpc>
                <a:spcPct val="100000"/>
              </a:lnSpc>
              <a:spcBef>
                <a:spcPts val="95"/>
              </a:spcBef>
            </a:pPr>
            <a:r>
              <a:rPr lang="en-IN" b="1" spc="-5" dirty="0">
                <a:latin typeface="Times New Roman"/>
                <a:cs typeface="Times New Roman"/>
              </a:rPr>
              <a:t> </a:t>
            </a:r>
            <a:r>
              <a:rPr lang="en-IN" sz="3200" b="1" spc="-5" dirty="0">
                <a:latin typeface="Times New Roman"/>
                <a:cs typeface="Times New Roman"/>
              </a:rPr>
              <a:t>Detection of Pancreatic </a:t>
            </a:r>
            <a:r>
              <a:rPr lang="en-IN" sz="3200" b="1" spc="-5" dirty="0"/>
              <a:t>C</a:t>
            </a:r>
            <a:r>
              <a:rPr lang="en-IN" sz="3200" b="1" spc="-5" dirty="0">
                <a:latin typeface="Times New Roman"/>
                <a:cs typeface="Times New Roman"/>
              </a:rPr>
              <a:t>ancer</a:t>
            </a:r>
            <a:endParaRPr sz="3200" b="1" spc="-5" dirty="0">
              <a:latin typeface="Times New Roman"/>
              <a:cs typeface="Times New Roman"/>
            </a:endParaRPr>
          </a:p>
        </p:txBody>
      </p:sp>
      <p:sp>
        <p:nvSpPr>
          <p:cNvPr id="3" name="object 3"/>
          <p:cNvSpPr txBox="1"/>
          <p:nvPr/>
        </p:nvSpPr>
        <p:spPr>
          <a:xfrm>
            <a:off x="8504681" y="6426504"/>
            <a:ext cx="102870"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libri"/>
                <a:cs typeface="Calibri"/>
              </a:rPr>
              <a:t>1</a:t>
            </a:r>
            <a:endParaRPr sz="1200">
              <a:latin typeface="Calibri"/>
              <a:cs typeface="Calibri"/>
            </a:endParaRPr>
          </a:p>
        </p:txBody>
      </p:sp>
      <p:sp>
        <p:nvSpPr>
          <p:cNvPr id="4" name="object 4"/>
          <p:cNvSpPr txBox="1"/>
          <p:nvPr/>
        </p:nvSpPr>
        <p:spPr>
          <a:xfrm>
            <a:off x="4199218" y="3754425"/>
            <a:ext cx="1341755" cy="228909"/>
          </a:xfrm>
          <a:prstGeom prst="rect">
            <a:avLst/>
          </a:prstGeom>
        </p:spPr>
        <p:txBody>
          <a:bodyPr vert="horz" wrap="square" lIns="0" tIns="13335" rIns="0" bIns="0" rtlCol="0">
            <a:spAutoFit/>
          </a:bodyPr>
          <a:lstStyle/>
          <a:p>
            <a:pPr marL="12700">
              <a:lnSpc>
                <a:spcPct val="100000"/>
              </a:lnSpc>
              <a:spcBef>
                <a:spcPts val="105"/>
              </a:spcBef>
            </a:pPr>
            <a:r>
              <a:rPr sz="1400" spc="-5" dirty="0" err="1">
                <a:latin typeface="Times New Roman"/>
                <a:cs typeface="Times New Roman"/>
              </a:rPr>
              <a:t>M.Devi</a:t>
            </a:r>
            <a:r>
              <a:rPr sz="1400" spc="-30" dirty="0">
                <a:latin typeface="Times New Roman"/>
                <a:cs typeface="Times New Roman"/>
              </a:rPr>
              <a:t> </a:t>
            </a:r>
            <a:r>
              <a:rPr sz="1400" dirty="0">
                <a:latin typeface="Times New Roman"/>
                <a:cs typeface="Times New Roman"/>
              </a:rPr>
              <a:t>Siva</a:t>
            </a:r>
            <a:r>
              <a:rPr sz="1400" spc="-30" dirty="0">
                <a:latin typeface="Times New Roman"/>
                <a:cs typeface="Times New Roman"/>
              </a:rPr>
              <a:t> </a:t>
            </a:r>
            <a:r>
              <a:rPr sz="1400" dirty="0">
                <a:latin typeface="Times New Roman"/>
                <a:cs typeface="Times New Roman"/>
              </a:rPr>
              <a:t>Sai</a:t>
            </a:r>
          </a:p>
        </p:txBody>
      </p:sp>
      <p:sp>
        <p:nvSpPr>
          <p:cNvPr id="5" name="object 5"/>
          <p:cNvSpPr txBox="1"/>
          <p:nvPr/>
        </p:nvSpPr>
        <p:spPr>
          <a:xfrm>
            <a:off x="4188332" y="4138041"/>
            <a:ext cx="1069467" cy="228268"/>
          </a:xfrm>
          <a:prstGeom prst="rect">
            <a:avLst/>
          </a:prstGeom>
        </p:spPr>
        <p:txBody>
          <a:bodyPr vert="horz" wrap="square" lIns="0" tIns="12700" rIns="0" bIns="0" rtlCol="0">
            <a:spAutoFit/>
          </a:bodyPr>
          <a:lstStyle/>
          <a:p>
            <a:pPr marL="12700">
              <a:lnSpc>
                <a:spcPct val="100000"/>
              </a:lnSpc>
              <a:spcBef>
                <a:spcPts val="100"/>
              </a:spcBef>
            </a:pPr>
            <a:r>
              <a:rPr sz="1400" spc="-160" dirty="0">
                <a:latin typeface="Times New Roman"/>
                <a:cs typeface="Times New Roman"/>
              </a:rPr>
              <a:t>P</a:t>
            </a:r>
            <a:r>
              <a:rPr sz="1400" spc="-5" dirty="0">
                <a:latin typeface="Times New Roman"/>
                <a:cs typeface="Times New Roman"/>
              </a:rPr>
              <a:t>.</a:t>
            </a:r>
            <a:r>
              <a:rPr lang="en-IN" sz="1400" spc="-5" dirty="0">
                <a:latin typeface="Times New Roman"/>
                <a:cs typeface="Times New Roman"/>
              </a:rPr>
              <a:t> </a:t>
            </a:r>
            <a:r>
              <a:rPr sz="1400" dirty="0">
                <a:latin typeface="Times New Roman"/>
                <a:cs typeface="Times New Roman"/>
              </a:rPr>
              <a:t>Prud</a:t>
            </a:r>
            <a:r>
              <a:rPr sz="1400" spc="-10" dirty="0">
                <a:latin typeface="Times New Roman"/>
                <a:cs typeface="Times New Roman"/>
              </a:rPr>
              <a:t>h</a:t>
            </a:r>
            <a:r>
              <a:rPr sz="1400" dirty="0">
                <a:latin typeface="Times New Roman"/>
                <a:cs typeface="Times New Roman"/>
              </a:rPr>
              <a:t>vi</a:t>
            </a:r>
          </a:p>
        </p:txBody>
      </p:sp>
      <p:sp>
        <p:nvSpPr>
          <p:cNvPr id="6" name="object 6"/>
          <p:cNvSpPr txBox="1"/>
          <p:nvPr/>
        </p:nvSpPr>
        <p:spPr>
          <a:xfrm>
            <a:off x="6186042" y="3284677"/>
            <a:ext cx="1668780" cy="1092835"/>
          </a:xfrm>
          <a:prstGeom prst="rect">
            <a:avLst/>
          </a:prstGeom>
        </p:spPr>
        <p:txBody>
          <a:bodyPr vert="horz" wrap="square" lIns="0" tIns="13335" rIns="0" bIns="0" rtlCol="0">
            <a:spAutoFit/>
          </a:bodyPr>
          <a:lstStyle/>
          <a:p>
            <a:pPr algn="ctr">
              <a:lnSpc>
                <a:spcPct val="100000"/>
              </a:lnSpc>
              <a:spcBef>
                <a:spcPts val="105"/>
              </a:spcBef>
            </a:pPr>
            <a:r>
              <a:rPr sz="2300" b="1" spc="-5" dirty="0">
                <a:latin typeface="Times New Roman"/>
                <a:cs typeface="Times New Roman"/>
              </a:rPr>
              <a:t>Presented</a:t>
            </a:r>
            <a:r>
              <a:rPr sz="2300" b="1" spc="-70" dirty="0">
                <a:latin typeface="Times New Roman"/>
                <a:cs typeface="Times New Roman"/>
              </a:rPr>
              <a:t> </a:t>
            </a:r>
            <a:r>
              <a:rPr sz="2300" b="1" dirty="0">
                <a:latin typeface="Times New Roman"/>
                <a:cs typeface="Times New Roman"/>
              </a:rPr>
              <a:t>By</a:t>
            </a:r>
            <a:endParaRPr sz="2300">
              <a:latin typeface="Times New Roman"/>
              <a:cs typeface="Times New Roman"/>
            </a:endParaRPr>
          </a:p>
          <a:p>
            <a:pPr marL="9525" algn="ctr">
              <a:lnSpc>
                <a:spcPct val="100000"/>
              </a:lnSpc>
              <a:spcBef>
                <a:spcPts val="1025"/>
              </a:spcBef>
              <a:tabLst>
                <a:tab pos="245745" algn="l"/>
              </a:tabLst>
            </a:pPr>
            <a:r>
              <a:rPr sz="1400" dirty="0">
                <a:latin typeface="Times New Roman"/>
                <a:cs typeface="Times New Roman"/>
              </a:rPr>
              <a:t>-	20BQ1A1299</a:t>
            </a:r>
            <a:endParaRPr sz="1400">
              <a:latin typeface="Times New Roman"/>
              <a:cs typeface="Times New Roman"/>
            </a:endParaRPr>
          </a:p>
          <a:p>
            <a:pPr marL="22860" algn="ctr">
              <a:lnSpc>
                <a:spcPct val="100000"/>
              </a:lnSpc>
              <a:spcBef>
                <a:spcPts val="1250"/>
              </a:spcBef>
              <a:tabLst>
                <a:tab pos="259079" algn="l"/>
              </a:tabLst>
            </a:pPr>
            <a:r>
              <a:rPr sz="1400" dirty="0">
                <a:latin typeface="Times New Roman"/>
                <a:cs typeface="Times New Roman"/>
              </a:rPr>
              <a:t>-	20BQ1A12C4</a:t>
            </a:r>
            <a:endParaRPr sz="1400">
              <a:latin typeface="Times New Roman"/>
              <a:cs typeface="Times New Roman"/>
            </a:endParaRPr>
          </a:p>
        </p:txBody>
      </p:sp>
      <p:pic>
        <p:nvPicPr>
          <p:cNvPr id="7" name="object 7"/>
          <p:cNvPicPr/>
          <p:nvPr/>
        </p:nvPicPr>
        <p:blipFill>
          <a:blip r:embed="rId2" cstate="print"/>
          <a:stretch>
            <a:fillRect/>
          </a:stretch>
        </p:blipFill>
        <p:spPr>
          <a:xfrm>
            <a:off x="3305555" y="1146047"/>
            <a:ext cx="1735836" cy="1211579"/>
          </a:xfrm>
          <a:prstGeom prst="rect">
            <a:avLst/>
          </a:prstGeom>
        </p:spPr>
      </p:pic>
      <p:sp>
        <p:nvSpPr>
          <p:cNvPr id="8" name="object 8"/>
          <p:cNvSpPr txBox="1"/>
          <p:nvPr/>
        </p:nvSpPr>
        <p:spPr>
          <a:xfrm>
            <a:off x="2494533" y="2419857"/>
            <a:ext cx="3485515" cy="988060"/>
          </a:xfrm>
          <a:prstGeom prst="rect">
            <a:avLst/>
          </a:prstGeom>
        </p:spPr>
        <p:txBody>
          <a:bodyPr vert="horz" wrap="square" lIns="0" tIns="12065" rIns="0" bIns="0" rtlCol="0">
            <a:spAutoFit/>
          </a:bodyPr>
          <a:lstStyle/>
          <a:p>
            <a:pPr marL="12700" marR="5080" indent="-128270" algn="ctr">
              <a:lnSpc>
                <a:spcPct val="100200"/>
              </a:lnSpc>
              <a:spcBef>
                <a:spcPts val="95"/>
              </a:spcBef>
              <a:tabLst>
                <a:tab pos="2923540" algn="l"/>
              </a:tabLst>
            </a:pPr>
            <a:r>
              <a:rPr sz="2300" b="1" dirty="0">
                <a:latin typeface="Times New Roman"/>
                <a:cs typeface="Times New Roman"/>
              </a:rPr>
              <a:t>Under</a:t>
            </a:r>
            <a:r>
              <a:rPr sz="2300" b="1" spc="-95" dirty="0">
                <a:latin typeface="Times New Roman"/>
                <a:cs typeface="Times New Roman"/>
              </a:rPr>
              <a:t> </a:t>
            </a:r>
            <a:r>
              <a:rPr sz="2300" b="1" dirty="0">
                <a:latin typeface="Times New Roman"/>
                <a:cs typeface="Times New Roman"/>
              </a:rPr>
              <a:t>The</a:t>
            </a:r>
            <a:r>
              <a:rPr sz="2300" b="1" spc="5" dirty="0">
                <a:latin typeface="Times New Roman"/>
                <a:cs typeface="Times New Roman"/>
              </a:rPr>
              <a:t> </a:t>
            </a:r>
            <a:r>
              <a:rPr sz="2300" b="1" dirty="0">
                <a:latin typeface="Times New Roman"/>
                <a:cs typeface="Times New Roman"/>
              </a:rPr>
              <a:t>Supervision	of </a:t>
            </a:r>
            <a:r>
              <a:rPr sz="2300" b="1" spc="5" dirty="0">
                <a:latin typeface="Times New Roman"/>
                <a:cs typeface="Times New Roman"/>
              </a:rPr>
              <a:t> </a:t>
            </a:r>
            <a:r>
              <a:rPr sz="2000" spc="-40" dirty="0">
                <a:latin typeface="Times New Roman"/>
                <a:cs typeface="Times New Roman"/>
              </a:rPr>
              <a:t>Mr. </a:t>
            </a:r>
            <a:r>
              <a:rPr sz="2000" dirty="0">
                <a:latin typeface="Times New Roman"/>
                <a:cs typeface="Times New Roman"/>
              </a:rPr>
              <a:t>Naga </a:t>
            </a:r>
            <a:r>
              <a:rPr sz="2000" spc="-5" dirty="0">
                <a:latin typeface="Times New Roman"/>
                <a:cs typeface="Times New Roman"/>
              </a:rPr>
              <a:t>Babu </a:t>
            </a:r>
            <a:r>
              <a:rPr sz="2000" dirty="0">
                <a:latin typeface="Times New Roman"/>
                <a:cs typeface="Times New Roman"/>
              </a:rPr>
              <a:t>Pachhala </a:t>
            </a:r>
            <a:r>
              <a:rPr sz="1100" dirty="0">
                <a:latin typeface="Times New Roman"/>
                <a:cs typeface="Times New Roman"/>
              </a:rPr>
              <a:t>M.Tech(</a:t>
            </a:r>
            <a:r>
              <a:rPr sz="1100" dirty="0" err="1">
                <a:latin typeface="Times New Roman"/>
                <a:cs typeface="Times New Roman"/>
              </a:rPr>
              <a:t>Ph.D</a:t>
            </a:r>
            <a:r>
              <a:rPr sz="1100" dirty="0">
                <a:latin typeface="Times New Roman"/>
                <a:cs typeface="Times New Roman"/>
              </a:rPr>
              <a:t>) </a:t>
            </a:r>
            <a:r>
              <a:rPr sz="1100" spc="-265" dirty="0">
                <a:latin typeface="Times New Roman"/>
                <a:cs typeface="Times New Roman"/>
              </a:rPr>
              <a:t> </a:t>
            </a:r>
            <a:r>
              <a:rPr sz="2000" dirty="0">
                <a:latin typeface="Times New Roman"/>
                <a:cs typeface="Times New Roman"/>
              </a:rPr>
              <a:t>Ass</a:t>
            </a:r>
            <a:r>
              <a:rPr lang="en-IN" sz="2000" dirty="0" err="1">
                <a:latin typeface="Times New Roman"/>
                <a:cs typeface="Times New Roman"/>
              </a:rPr>
              <a:t>istant</a:t>
            </a:r>
            <a:r>
              <a:rPr sz="2000" spc="-30" dirty="0">
                <a:latin typeface="Times New Roman"/>
                <a:cs typeface="Times New Roman"/>
              </a:rPr>
              <a:t> </a:t>
            </a:r>
            <a:r>
              <a:rPr sz="2000" dirty="0">
                <a:latin typeface="Times New Roman"/>
                <a:cs typeface="Times New Roman"/>
              </a:rPr>
              <a:t>Professor</a:t>
            </a:r>
          </a:p>
        </p:txBody>
      </p:sp>
      <p:sp>
        <p:nvSpPr>
          <p:cNvPr id="9" name="object 9"/>
          <p:cNvSpPr txBox="1"/>
          <p:nvPr/>
        </p:nvSpPr>
        <p:spPr>
          <a:xfrm>
            <a:off x="1524000" y="4509896"/>
            <a:ext cx="6477000" cy="2195473"/>
          </a:xfrm>
          <a:prstGeom prst="rect">
            <a:avLst/>
          </a:prstGeom>
        </p:spPr>
        <p:txBody>
          <a:bodyPr vert="horz" wrap="square" lIns="0" tIns="12700" rIns="0" bIns="0" rtlCol="0">
            <a:spAutoFit/>
          </a:bodyPr>
          <a:lstStyle/>
          <a:p>
            <a:pPr marL="2658745">
              <a:lnSpc>
                <a:spcPct val="100000"/>
              </a:lnSpc>
              <a:spcBef>
                <a:spcPts val="100"/>
              </a:spcBef>
              <a:tabLst>
                <a:tab pos="4850765" algn="l"/>
                <a:tab pos="5042535" algn="l"/>
              </a:tabLst>
            </a:pPr>
            <a:r>
              <a:rPr sz="1400" spc="-5" dirty="0" err="1">
                <a:latin typeface="Times New Roman"/>
                <a:cs typeface="Times New Roman"/>
              </a:rPr>
              <a:t>G.Naga</a:t>
            </a:r>
            <a:r>
              <a:rPr sz="1400" spc="-15" dirty="0">
                <a:latin typeface="Times New Roman"/>
                <a:cs typeface="Times New Roman"/>
              </a:rPr>
              <a:t> </a:t>
            </a:r>
            <a:r>
              <a:rPr sz="1400" spc="-25" dirty="0">
                <a:latin typeface="Times New Roman"/>
                <a:cs typeface="Times New Roman"/>
              </a:rPr>
              <a:t>Venkata</a:t>
            </a:r>
            <a:r>
              <a:rPr sz="1400" spc="5" dirty="0">
                <a:latin typeface="Times New Roman"/>
                <a:cs typeface="Times New Roman"/>
              </a:rPr>
              <a:t> </a:t>
            </a:r>
            <a:r>
              <a:rPr sz="1400" dirty="0">
                <a:latin typeface="Times New Roman"/>
                <a:cs typeface="Times New Roman"/>
              </a:rPr>
              <a:t>Sai</a:t>
            </a:r>
            <a:r>
              <a:rPr sz="1400" spc="5" dirty="0">
                <a:latin typeface="Times New Roman"/>
                <a:cs typeface="Times New Roman"/>
              </a:rPr>
              <a:t> </a:t>
            </a:r>
            <a:r>
              <a:rPr sz="1400" dirty="0">
                <a:latin typeface="Times New Roman"/>
                <a:cs typeface="Times New Roman"/>
              </a:rPr>
              <a:t>Gopi	-	20BQ1A1264</a:t>
            </a:r>
          </a:p>
          <a:p>
            <a:pPr marL="2658745">
              <a:lnSpc>
                <a:spcPct val="100000"/>
              </a:lnSpc>
              <a:spcBef>
                <a:spcPts val="1265"/>
              </a:spcBef>
              <a:tabLst>
                <a:tab pos="5042535" algn="l"/>
              </a:tabLst>
            </a:pPr>
            <a:r>
              <a:rPr sz="1400" dirty="0" err="1">
                <a:latin typeface="Times New Roman"/>
                <a:cs typeface="Times New Roman"/>
              </a:rPr>
              <a:t>I.Ganeswara</a:t>
            </a:r>
            <a:r>
              <a:rPr sz="1400" spc="-15" dirty="0">
                <a:latin typeface="Times New Roman"/>
                <a:cs typeface="Times New Roman"/>
              </a:rPr>
              <a:t> </a:t>
            </a:r>
            <a:r>
              <a:rPr sz="1400" dirty="0">
                <a:latin typeface="Times New Roman"/>
                <a:cs typeface="Times New Roman"/>
              </a:rPr>
              <a:t>Naga Sai</a:t>
            </a:r>
            <a:r>
              <a:rPr sz="1400" spc="-5" dirty="0">
                <a:latin typeface="Times New Roman"/>
                <a:cs typeface="Times New Roman"/>
              </a:rPr>
              <a:t> </a:t>
            </a:r>
            <a:r>
              <a:rPr sz="1400" dirty="0">
                <a:latin typeface="Times New Roman"/>
                <a:cs typeface="Times New Roman"/>
              </a:rPr>
              <a:t>Ram</a:t>
            </a:r>
            <a:r>
              <a:rPr sz="1400" spc="365" dirty="0">
                <a:latin typeface="Times New Roman"/>
                <a:cs typeface="Times New Roman"/>
              </a:rPr>
              <a:t> </a:t>
            </a:r>
            <a:r>
              <a:rPr lang="en-IN" sz="1400" spc="365" dirty="0">
                <a:latin typeface="Times New Roman"/>
                <a:cs typeface="Times New Roman"/>
              </a:rPr>
              <a:t>  </a:t>
            </a:r>
            <a:r>
              <a:rPr sz="1400" dirty="0">
                <a:latin typeface="Times New Roman"/>
                <a:cs typeface="Times New Roman"/>
              </a:rPr>
              <a:t>-	20BQ1A1266</a:t>
            </a:r>
          </a:p>
          <a:p>
            <a:pPr marL="2658745">
              <a:lnSpc>
                <a:spcPct val="100000"/>
              </a:lnSpc>
              <a:spcBef>
                <a:spcPts val="1245"/>
              </a:spcBef>
              <a:tabLst>
                <a:tab pos="4869180" algn="l"/>
              </a:tabLst>
            </a:pPr>
            <a:r>
              <a:rPr sz="1400" dirty="0" err="1">
                <a:latin typeface="Times New Roman"/>
                <a:cs typeface="Times New Roman"/>
              </a:rPr>
              <a:t>M.Ram</a:t>
            </a:r>
            <a:r>
              <a:rPr sz="1400" dirty="0">
                <a:latin typeface="Times New Roman"/>
                <a:cs typeface="Times New Roman"/>
              </a:rPr>
              <a:t> Sandeep	-</a:t>
            </a:r>
            <a:r>
              <a:rPr sz="1400" spc="245" dirty="0">
                <a:latin typeface="Times New Roman"/>
                <a:cs typeface="Times New Roman"/>
              </a:rPr>
              <a:t> </a:t>
            </a:r>
            <a:r>
              <a:rPr sz="1400" dirty="0">
                <a:latin typeface="Times New Roman"/>
                <a:cs typeface="Times New Roman"/>
              </a:rPr>
              <a:t>20BQ1A12A2</a:t>
            </a:r>
          </a:p>
          <a:p>
            <a:pPr marL="12065" marR="302895" indent="-2540" algn="ctr">
              <a:lnSpc>
                <a:spcPct val="100000"/>
              </a:lnSpc>
              <a:spcBef>
                <a:spcPts val="1210"/>
              </a:spcBef>
            </a:pPr>
            <a:r>
              <a:rPr sz="2300" b="1" dirty="0">
                <a:latin typeface="Times New Roman"/>
                <a:cs typeface="Times New Roman"/>
              </a:rPr>
              <a:t>Department of Information </a:t>
            </a:r>
            <a:r>
              <a:rPr sz="2300" b="1" spc="-20" dirty="0">
                <a:latin typeface="Times New Roman"/>
                <a:cs typeface="Times New Roman"/>
              </a:rPr>
              <a:t>Technology </a:t>
            </a:r>
            <a:r>
              <a:rPr sz="2300" b="1" spc="-15" dirty="0">
                <a:latin typeface="Times New Roman"/>
                <a:cs typeface="Times New Roman"/>
              </a:rPr>
              <a:t> </a:t>
            </a:r>
            <a:r>
              <a:rPr sz="2300" b="1" spc="-30" dirty="0">
                <a:latin typeface="Times New Roman"/>
                <a:cs typeface="Times New Roman"/>
              </a:rPr>
              <a:t>Vasireddy </a:t>
            </a:r>
            <a:r>
              <a:rPr sz="2300" b="1" spc="-20" dirty="0">
                <a:latin typeface="Times New Roman"/>
                <a:cs typeface="Times New Roman"/>
              </a:rPr>
              <a:t>Venkatadri </a:t>
            </a:r>
            <a:r>
              <a:rPr sz="2300" b="1" dirty="0">
                <a:latin typeface="Times New Roman"/>
                <a:cs typeface="Times New Roman"/>
              </a:rPr>
              <a:t>Institute of </a:t>
            </a:r>
            <a:r>
              <a:rPr sz="2300" b="1" spc="-20" dirty="0">
                <a:latin typeface="Times New Roman"/>
                <a:cs typeface="Times New Roman"/>
              </a:rPr>
              <a:t>Technology </a:t>
            </a:r>
            <a:r>
              <a:rPr sz="2300" b="1" spc="-15" dirty="0">
                <a:latin typeface="Times New Roman"/>
                <a:cs typeface="Times New Roman"/>
              </a:rPr>
              <a:t> </a:t>
            </a:r>
            <a:r>
              <a:rPr sz="2300" b="1" dirty="0">
                <a:latin typeface="Times New Roman"/>
                <a:cs typeface="Times New Roman"/>
              </a:rPr>
              <a:t>Pedakakani</a:t>
            </a:r>
            <a:r>
              <a:rPr sz="2300" b="1" spc="-35" dirty="0">
                <a:latin typeface="Times New Roman"/>
                <a:cs typeface="Times New Roman"/>
              </a:rPr>
              <a:t> </a:t>
            </a:r>
            <a:r>
              <a:rPr sz="2300" b="1" dirty="0">
                <a:latin typeface="Times New Roman"/>
                <a:cs typeface="Times New Roman"/>
              </a:rPr>
              <a:t>Mandal,</a:t>
            </a:r>
            <a:r>
              <a:rPr sz="2300" b="1" spc="-25" dirty="0">
                <a:latin typeface="Times New Roman"/>
                <a:cs typeface="Times New Roman"/>
              </a:rPr>
              <a:t> </a:t>
            </a:r>
            <a:r>
              <a:rPr sz="2300" b="1" spc="-30" dirty="0" err="1">
                <a:latin typeface="Times New Roman"/>
                <a:cs typeface="Times New Roman"/>
              </a:rPr>
              <a:t>Nambur</a:t>
            </a:r>
            <a:r>
              <a:rPr lang="en-IN" sz="2300" b="1" spc="-30" dirty="0">
                <a:latin typeface="Times New Roman"/>
                <a:cs typeface="Times New Roman"/>
              </a:rPr>
              <a:t>u</a:t>
            </a:r>
            <a:r>
              <a:rPr sz="2300" b="1" spc="-30" dirty="0">
                <a:latin typeface="Times New Roman"/>
                <a:cs typeface="Times New Roman"/>
              </a:rPr>
              <a:t>,</a:t>
            </a:r>
            <a:r>
              <a:rPr sz="2300" b="1" spc="-25" dirty="0">
                <a:latin typeface="Times New Roman"/>
                <a:cs typeface="Times New Roman"/>
              </a:rPr>
              <a:t> </a:t>
            </a:r>
            <a:r>
              <a:rPr sz="2300" b="1" spc="-10" dirty="0">
                <a:latin typeface="Times New Roman"/>
                <a:cs typeface="Times New Roman"/>
              </a:rPr>
              <a:t>Guntur-522508</a:t>
            </a:r>
            <a:endParaRPr sz="23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95165" y="632586"/>
            <a:ext cx="1152525" cy="406400"/>
          </a:xfrm>
          <a:prstGeom prst="rect">
            <a:avLst/>
          </a:prstGeom>
        </p:spPr>
        <p:txBody>
          <a:bodyPr vert="horz" wrap="square" lIns="0" tIns="12065" rIns="0" bIns="0" rtlCol="0">
            <a:spAutoFit/>
          </a:bodyPr>
          <a:lstStyle/>
          <a:p>
            <a:pPr marL="12700">
              <a:lnSpc>
                <a:spcPct val="100000"/>
              </a:lnSpc>
              <a:spcBef>
                <a:spcPts val="95"/>
              </a:spcBef>
            </a:pPr>
            <a:r>
              <a:rPr spc="-5" dirty="0"/>
              <a:t>Contents</a:t>
            </a:r>
          </a:p>
        </p:txBody>
      </p:sp>
      <p:sp>
        <p:nvSpPr>
          <p:cNvPr id="4" name="object 4"/>
          <p:cNvSpPr txBox="1">
            <a:spLocks noGrp="1"/>
          </p:cNvSpPr>
          <p:nvPr>
            <p:ph type="sldNum" sz="quarter" idx="7"/>
          </p:nvPr>
        </p:nvSpPr>
        <p:spPr>
          <a:prstGeom prst="rect">
            <a:avLst/>
          </a:prstGeom>
        </p:spPr>
        <p:txBody>
          <a:bodyPr vert="horz" wrap="square" lIns="0" tIns="8255" rIns="0" bIns="0" rtlCol="0">
            <a:spAutoFit/>
          </a:bodyPr>
          <a:lstStyle/>
          <a:p>
            <a:pPr marL="38100">
              <a:lnSpc>
                <a:spcPct val="100000"/>
              </a:lnSpc>
              <a:spcBef>
                <a:spcPts val="65"/>
              </a:spcBef>
            </a:pPr>
            <a:fld id="{81D60167-4931-47E6-BA6A-407CBD079E47}" type="slidenum">
              <a:rPr dirty="0"/>
              <a:t>2</a:t>
            </a:fld>
            <a:endParaRPr dirty="0"/>
          </a:p>
        </p:txBody>
      </p:sp>
      <p:sp>
        <p:nvSpPr>
          <p:cNvPr id="3" name="object 3"/>
          <p:cNvSpPr txBox="1"/>
          <p:nvPr/>
        </p:nvSpPr>
        <p:spPr>
          <a:xfrm>
            <a:off x="510668" y="1143000"/>
            <a:ext cx="7566532" cy="3946593"/>
          </a:xfrm>
          <a:prstGeom prst="rect">
            <a:avLst/>
          </a:prstGeom>
        </p:spPr>
        <p:txBody>
          <a:bodyPr vert="horz" wrap="square" lIns="0" tIns="67945" rIns="0" bIns="0" rtlCol="0">
            <a:spAutoFit/>
          </a:bodyPr>
          <a:lstStyle/>
          <a:p>
            <a:pPr marL="514350" indent="-514350">
              <a:buFont typeface="Arial" pitchFamily="34" charset="0"/>
              <a:buAutoNum type="arabicPeriod"/>
            </a:pPr>
            <a:r>
              <a:rPr lang="en-IN" sz="1800" dirty="0">
                <a:latin typeface="Times New Roman" panose="02020603050405020304" pitchFamily="18" charset="0"/>
                <a:cs typeface="Times New Roman" panose="02020603050405020304" pitchFamily="18" charset="0"/>
              </a:rPr>
              <a:t>Abstract</a:t>
            </a:r>
          </a:p>
          <a:p>
            <a:pPr marL="514350" indent="-514350">
              <a:buFont typeface="Arial" pitchFamily="34" charset="0"/>
              <a:buAutoNum type="arabicPeriod"/>
            </a:pPr>
            <a:r>
              <a:rPr lang="en-IN" sz="1800" dirty="0">
                <a:latin typeface="Times New Roman" panose="02020603050405020304" pitchFamily="18" charset="0"/>
                <a:cs typeface="Times New Roman" panose="02020603050405020304" pitchFamily="18" charset="0"/>
              </a:rPr>
              <a:t>Introduction </a:t>
            </a:r>
          </a:p>
          <a:p>
            <a:pPr marL="514350" indent="-514350">
              <a:buFont typeface="Arial" pitchFamily="34" charset="0"/>
              <a:buAutoNum type="arabicPeriod"/>
            </a:pPr>
            <a:r>
              <a:rPr lang="en-IN" sz="1800" dirty="0">
                <a:latin typeface="Times New Roman" panose="02020603050405020304" pitchFamily="18" charset="0"/>
                <a:cs typeface="Times New Roman" panose="02020603050405020304" pitchFamily="18" charset="0"/>
              </a:rPr>
              <a:t>Existing System </a:t>
            </a:r>
          </a:p>
          <a:p>
            <a:pPr marL="514350" indent="-514350">
              <a:buFont typeface="Arial" pitchFamily="34" charset="0"/>
              <a:buAutoNum type="arabicPeriod"/>
            </a:pPr>
            <a:r>
              <a:rPr lang="en-IN" sz="1800" dirty="0">
                <a:latin typeface="Times New Roman" panose="02020603050405020304" pitchFamily="18" charset="0"/>
                <a:cs typeface="Times New Roman" panose="02020603050405020304" pitchFamily="18" charset="0"/>
              </a:rPr>
              <a:t>Proposed System </a:t>
            </a:r>
          </a:p>
          <a:p>
            <a:pPr marL="514350" indent="-514350">
              <a:buFont typeface="Arial" pitchFamily="34" charset="0"/>
              <a:buAutoNum type="arabicPeriod"/>
            </a:pPr>
            <a:r>
              <a:rPr lang="en-IN" dirty="0">
                <a:latin typeface="Times New Roman" panose="02020603050405020304" pitchFamily="18" charset="0"/>
                <a:cs typeface="Times New Roman" panose="02020603050405020304" pitchFamily="18" charset="0"/>
              </a:rPr>
              <a:t>Hardware And Software Requirements</a:t>
            </a:r>
          </a:p>
          <a:p>
            <a:pPr marL="514350" indent="-514350">
              <a:buAutoNum type="arabicPeriod"/>
            </a:pPr>
            <a:r>
              <a:rPr lang="en-IN" sz="1800" dirty="0">
                <a:latin typeface="Times New Roman" panose="02020603050405020304" pitchFamily="18" charset="0"/>
                <a:cs typeface="Times New Roman" panose="02020603050405020304" pitchFamily="18" charset="0"/>
              </a:rPr>
              <a:t>Functional Requirements</a:t>
            </a:r>
          </a:p>
          <a:p>
            <a:pPr marL="514350" indent="-514350">
              <a:buAutoNum type="arabicPeriod"/>
            </a:pPr>
            <a:r>
              <a:rPr lang="en-IN" sz="1800" dirty="0">
                <a:latin typeface="Times New Roman" panose="02020603050405020304" pitchFamily="18" charset="0"/>
                <a:cs typeface="Times New Roman" panose="02020603050405020304" pitchFamily="18" charset="0"/>
              </a:rPr>
              <a:t>Non-Functional Requirements</a:t>
            </a:r>
          </a:p>
          <a:p>
            <a:pPr marL="514350" indent="-514350">
              <a:buAutoNum type="arabicPeriod"/>
            </a:pPr>
            <a:r>
              <a:rPr lang="en-IN" sz="1800" dirty="0">
                <a:latin typeface="Times New Roman" panose="02020603050405020304" pitchFamily="18" charset="0"/>
                <a:cs typeface="Times New Roman" panose="02020603050405020304" pitchFamily="18" charset="0"/>
              </a:rPr>
              <a:t>System Architecture</a:t>
            </a:r>
          </a:p>
          <a:p>
            <a:pPr marL="514350" indent="-514350">
              <a:buAutoNum type="arabicPeriod"/>
            </a:pPr>
            <a:r>
              <a:rPr lang="en-IN" sz="1800" dirty="0">
                <a:latin typeface="Times New Roman" panose="02020603050405020304" pitchFamily="18" charset="0"/>
                <a:cs typeface="Times New Roman" panose="02020603050405020304" pitchFamily="18" charset="0"/>
              </a:rPr>
              <a:t>System Design</a:t>
            </a:r>
          </a:p>
          <a:p>
            <a:pPr marL="514350" indent="-514350">
              <a:buAutoNum type="arabicPeriod"/>
            </a:pPr>
            <a:r>
              <a:rPr lang="en-IN" sz="1800" dirty="0">
                <a:latin typeface="Times New Roman" panose="02020603050405020304" pitchFamily="18" charset="0"/>
                <a:cs typeface="Times New Roman" panose="02020603050405020304" pitchFamily="18" charset="0"/>
              </a:rPr>
              <a:t>Output Screens</a:t>
            </a:r>
          </a:p>
          <a:p>
            <a:pPr marL="514350" indent="-514350">
              <a:buAutoNum type="arabicPeriod"/>
            </a:pPr>
            <a:r>
              <a:rPr lang="en-IN" sz="1800" dirty="0">
                <a:latin typeface="Times New Roman" panose="02020603050405020304" pitchFamily="18" charset="0"/>
                <a:cs typeface="Times New Roman" panose="02020603050405020304" pitchFamily="18" charset="0"/>
              </a:rPr>
              <a:t>System Testing</a:t>
            </a:r>
          </a:p>
          <a:p>
            <a:pPr marL="514350" indent="-514350">
              <a:buAutoNum type="arabicPeriod"/>
            </a:pPr>
            <a:r>
              <a:rPr lang="en-IN" sz="1800" dirty="0">
                <a:latin typeface="Times New Roman" panose="02020603050405020304" pitchFamily="18" charset="0"/>
                <a:cs typeface="Times New Roman" panose="02020603050405020304" pitchFamily="18" charset="0"/>
              </a:rPr>
              <a:t>Conclusion</a:t>
            </a:r>
          </a:p>
          <a:p>
            <a:pPr marL="514350" indent="-514350">
              <a:buAutoNum type="arabicPeriod"/>
            </a:pPr>
            <a:r>
              <a:rPr lang="en-IN" sz="1800" dirty="0">
                <a:latin typeface="Times New Roman" panose="02020603050405020304" pitchFamily="18" charset="0"/>
                <a:cs typeface="Times New Roman" panose="02020603050405020304" pitchFamily="18" charset="0"/>
              </a:rPr>
              <a:t>Future Scope</a:t>
            </a:r>
          </a:p>
          <a:p>
            <a:pPr marL="514350" indent="-514350">
              <a:buAutoNum type="arabicPeriod"/>
            </a:pPr>
            <a:r>
              <a:rPr lang="en-IN" dirty="0">
                <a:latin typeface="Times New Roman" panose="02020603050405020304" pitchFamily="18" charset="0"/>
                <a:cs typeface="Times New Roman" panose="02020603050405020304" pitchFamily="18" charset="0"/>
              </a:rPr>
              <a:t>Reference</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C350D-9CC3-32BE-1C76-30E7F5F4A7B5}"/>
              </a:ext>
            </a:extLst>
          </p:cNvPr>
          <p:cNvSpPr>
            <a:spLocks noGrp="1"/>
          </p:cNvSpPr>
          <p:nvPr>
            <p:ph type="title"/>
          </p:nvPr>
        </p:nvSpPr>
        <p:spPr>
          <a:xfrm>
            <a:off x="3458337" y="632586"/>
            <a:ext cx="2227325" cy="384721"/>
          </a:xfrm>
        </p:spPr>
        <p:txBody>
          <a:bodyPr/>
          <a:lstStyle/>
          <a:p>
            <a:r>
              <a:rPr lang="en-IN" dirty="0"/>
              <a:t>ABSTRACT</a:t>
            </a:r>
          </a:p>
        </p:txBody>
      </p:sp>
      <p:sp>
        <p:nvSpPr>
          <p:cNvPr id="3" name="Text Placeholder 2">
            <a:extLst>
              <a:ext uri="{FF2B5EF4-FFF2-40B4-BE49-F238E27FC236}">
                <a16:creationId xmlns:a16="http://schemas.microsoft.com/office/drawing/2014/main" id="{BA4045C0-2AAB-D444-9C91-455BD206DF83}"/>
              </a:ext>
            </a:extLst>
          </p:cNvPr>
          <p:cNvSpPr>
            <a:spLocks noGrp="1"/>
          </p:cNvSpPr>
          <p:nvPr>
            <p:ph type="body" idx="1"/>
          </p:nvPr>
        </p:nvSpPr>
        <p:spPr>
          <a:xfrm>
            <a:off x="533400" y="1295400"/>
            <a:ext cx="8153400" cy="4708981"/>
          </a:xfrm>
        </p:spPr>
        <p:txBody>
          <a:bodyPr/>
          <a:lstStyle/>
          <a:p>
            <a:pPr algn="just"/>
            <a:r>
              <a:rPr lang="en-US" sz="1800" dirty="0">
                <a:solidFill>
                  <a:srgbClr val="131313"/>
                </a:solidFill>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Pancreatic cancer has a terrible prognosis by having a survival rate of five years only. The premise behind early detection and better survival is that more people will benefit from a possible treatment. Pancreatic cancer is a devastating disease with a high mortality rate, often diagnosed at advanced stages when treatment options are limited. Early detection plays a crucial role in improving patient outcomes.</a:t>
            </a:r>
            <a:r>
              <a:rPr lang="en-US" sz="1800" dirty="0">
                <a:effectLst/>
                <a:latin typeface="Segoe UI" panose="020B0502040204020203" pitchFamily="34" charset="0"/>
                <a:ea typeface="Times New Roman" panose="02020603050405020304" pitchFamily="18" charset="0"/>
              </a:rPr>
              <a:t> </a:t>
            </a:r>
            <a:r>
              <a:rPr lang="en-US" sz="1800" dirty="0">
                <a:solidFill>
                  <a:srgbClr val="131313"/>
                </a:solidFill>
                <a:effectLst/>
                <a:latin typeface="Times New Roman" panose="02020603050405020304" pitchFamily="18" charset="0"/>
                <a:ea typeface="Times New Roman" panose="02020603050405020304" pitchFamily="18" charset="0"/>
              </a:rPr>
              <a:t>The great majority of the computer systems that are now being utilized for research on medical health systems are based on the most recent technical breakthroughs. Because of the prevalence of pancreatic cancer, a significant number of novel approaches and techniques have emerged in the field of medicine. There are several various classifications that may be applied to the pancreatic cancer that can be found. The classification of pancreatic cancer may be tackled from a variety of angles, each of which can be accomplished via using either technology for machine learning or technology for deep learning. In the past, a diagnosis of pancreatic cancer could be made by using methods such as the </a:t>
            </a:r>
            <a:r>
              <a:rPr lang="en-US" dirty="0">
                <a:solidFill>
                  <a:srgbClr val="131313"/>
                </a:solidFill>
                <a:latin typeface="Times New Roman" panose="02020603050405020304" pitchFamily="18" charset="0"/>
                <a:ea typeface="Times New Roman" panose="02020603050405020304" pitchFamily="18" charset="0"/>
              </a:rPr>
              <a:t>RF</a:t>
            </a:r>
            <a:r>
              <a:rPr lang="en-US" sz="1800" dirty="0">
                <a:solidFill>
                  <a:srgbClr val="131313"/>
                </a:solidFill>
                <a:effectLst/>
                <a:latin typeface="Times New Roman" panose="02020603050405020304" pitchFamily="18" charset="0"/>
                <a:ea typeface="Times New Roman" panose="02020603050405020304" pitchFamily="18" charset="0"/>
              </a:rPr>
              <a:t>, Support Vector Machine (SVM),Extra Tree , Decision Tree. However, these strategies do not deliver an accurate performance. As a result, this study has implemented a Random Forest Classifier due to its ability to handle complex relationships within the data. </a:t>
            </a:r>
            <a:endParaRPr lang="en-IN" dirty="0"/>
          </a:p>
        </p:txBody>
      </p:sp>
    </p:spTree>
    <p:extLst>
      <p:ext uri="{BB962C8B-B14F-4D97-AF65-F5344CB8AC3E}">
        <p14:creationId xmlns:p14="http://schemas.microsoft.com/office/powerpoint/2010/main" val="2471909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9401" y="522478"/>
            <a:ext cx="2943098" cy="396904"/>
          </a:xfrm>
          <a:prstGeom prst="rect">
            <a:avLst/>
          </a:prstGeom>
        </p:spPr>
        <p:txBody>
          <a:bodyPr vert="horz" wrap="square" lIns="0" tIns="12065" rIns="0" bIns="0" rtlCol="0">
            <a:spAutoFit/>
          </a:bodyPr>
          <a:lstStyle/>
          <a:p>
            <a:pPr marL="12700">
              <a:lnSpc>
                <a:spcPct val="100000"/>
              </a:lnSpc>
              <a:spcBef>
                <a:spcPts val="95"/>
              </a:spcBef>
            </a:pPr>
            <a:r>
              <a:rPr spc="-5" dirty="0"/>
              <a:t>INTROD</a:t>
            </a:r>
            <a:r>
              <a:rPr spc="-15" dirty="0"/>
              <a:t>U</a:t>
            </a:r>
            <a:r>
              <a:rPr spc="-5" dirty="0"/>
              <a:t>CTION</a:t>
            </a:r>
          </a:p>
        </p:txBody>
      </p:sp>
      <p:sp>
        <p:nvSpPr>
          <p:cNvPr id="4" name="object 4"/>
          <p:cNvSpPr txBox="1">
            <a:spLocks noGrp="1"/>
          </p:cNvSpPr>
          <p:nvPr>
            <p:ph type="sldNum" sz="quarter" idx="7"/>
          </p:nvPr>
        </p:nvSpPr>
        <p:spPr>
          <a:prstGeom prst="rect">
            <a:avLst/>
          </a:prstGeom>
        </p:spPr>
        <p:txBody>
          <a:bodyPr vert="horz" wrap="square" lIns="0" tIns="8255" rIns="0" bIns="0" rtlCol="0">
            <a:spAutoFit/>
          </a:bodyPr>
          <a:lstStyle/>
          <a:p>
            <a:pPr marL="38100">
              <a:lnSpc>
                <a:spcPct val="100000"/>
              </a:lnSpc>
              <a:spcBef>
                <a:spcPts val="65"/>
              </a:spcBef>
            </a:pPr>
            <a:fld id="{81D60167-4931-47E6-BA6A-407CBD079E47}" type="slidenum">
              <a:rPr dirty="0"/>
              <a:t>4</a:t>
            </a:fld>
            <a:endParaRPr dirty="0"/>
          </a:p>
        </p:txBody>
      </p:sp>
      <p:sp>
        <p:nvSpPr>
          <p:cNvPr id="3" name="object 3"/>
          <p:cNvSpPr txBox="1"/>
          <p:nvPr/>
        </p:nvSpPr>
        <p:spPr>
          <a:xfrm>
            <a:off x="535940" y="1305814"/>
            <a:ext cx="8073390" cy="4799965"/>
          </a:xfrm>
          <a:prstGeom prst="rect">
            <a:avLst/>
          </a:prstGeom>
        </p:spPr>
        <p:txBody>
          <a:bodyPr vert="horz" wrap="square" lIns="0" tIns="12700" rIns="0" bIns="0" rtlCol="0">
            <a:spAutoFit/>
          </a:bodyPr>
          <a:lstStyle/>
          <a:p>
            <a:pPr marL="413384" indent="-401320">
              <a:lnSpc>
                <a:spcPts val="2050"/>
              </a:lnSpc>
              <a:spcBef>
                <a:spcPts val="100"/>
              </a:spcBef>
              <a:buFont typeface="Wingdings"/>
              <a:buChar char=""/>
              <a:tabLst>
                <a:tab pos="413384" algn="l"/>
                <a:tab pos="414020" algn="l"/>
              </a:tabLst>
            </a:pPr>
            <a:r>
              <a:rPr sz="1800" dirty="0">
                <a:latin typeface="Times New Roman"/>
                <a:cs typeface="Times New Roman"/>
              </a:rPr>
              <a:t>Pancreas</a:t>
            </a:r>
            <a:r>
              <a:rPr sz="1800" spc="125" dirty="0">
                <a:latin typeface="Times New Roman"/>
                <a:cs typeface="Times New Roman"/>
              </a:rPr>
              <a:t> </a:t>
            </a:r>
            <a:r>
              <a:rPr sz="1800" dirty="0">
                <a:latin typeface="Times New Roman"/>
                <a:cs typeface="Times New Roman"/>
              </a:rPr>
              <a:t>a</a:t>
            </a:r>
            <a:r>
              <a:rPr sz="1800" spc="145" dirty="0">
                <a:latin typeface="Times New Roman"/>
                <a:cs typeface="Times New Roman"/>
              </a:rPr>
              <a:t> </a:t>
            </a:r>
            <a:r>
              <a:rPr sz="1800" spc="-5" dirty="0">
                <a:latin typeface="Times New Roman"/>
                <a:cs typeface="Times New Roman"/>
              </a:rPr>
              <a:t>crucial</a:t>
            </a:r>
            <a:r>
              <a:rPr sz="1800" spc="130" dirty="0">
                <a:latin typeface="Times New Roman"/>
                <a:cs typeface="Times New Roman"/>
              </a:rPr>
              <a:t> </a:t>
            </a:r>
            <a:r>
              <a:rPr sz="1800" spc="-5" dirty="0">
                <a:latin typeface="Times New Roman"/>
                <a:cs typeface="Times New Roman"/>
              </a:rPr>
              <a:t>endocrine</a:t>
            </a:r>
            <a:r>
              <a:rPr sz="1800" spc="150" dirty="0">
                <a:latin typeface="Times New Roman"/>
                <a:cs typeface="Times New Roman"/>
              </a:rPr>
              <a:t> </a:t>
            </a:r>
            <a:r>
              <a:rPr sz="1800" spc="-10" dirty="0">
                <a:latin typeface="Times New Roman"/>
                <a:cs typeface="Times New Roman"/>
              </a:rPr>
              <a:t>organ</a:t>
            </a:r>
            <a:r>
              <a:rPr sz="1800" spc="145" dirty="0">
                <a:latin typeface="Times New Roman"/>
                <a:cs typeface="Times New Roman"/>
              </a:rPr>
              <a:t> </a:t>
            </a:r>
            <a:r>
              <a:rPr sz="1800" dirty="0">
                <a:latin typeface="Times New Roman"/>
                <a:cs typeface="Times New Roman"/>
              </a:rPr>
              <a:t>found</a:t>
            </a:r>
            <a:r>
              <a:rPr sz="1800" spc="135" dirty="0">
                <a:latin typeface="Times New Roman"/>
                <a:cs typeface="Times New Roman"/>
              </a:rPr>
              <a:t> </a:t>
            </a:r>
            <a:r>
              <a:rPr sz="1800" dirty="0">
                <a:latin typeface="Times New Roman"/>
                <a:cs typeface="Times New Roman"/>
              </a:rPr>
              <a:t>under</a:t>
            </a:r>
            <a:r>
              <a:rPr sz="1800" spc="135" dirty="0">
                <a:latin typeface="Times New Roman"/>
                <a:cs typeface="Times New Roman"/>
              </a:rPr>
              <a:t> </a:t>
            </a:r>
            <a:r>
              <a:rPr sz="1800" dirty="0">
                <a:latin typeface="Times New Roman"/>
                <a:cs typeface="Times New Roman"/>
              </a:rPr>
              <a:t>the</a:t>
            </a:r>
            <a:r>
              <a:rPr sz="1800" spc="150" dirty="0">
                <a:latin typeface="Times New Roman"/>
                <a:cs typeface="Times New Roman"/>
              </a:rPr>
              <a:t> </a:t>
            </a:r>
            <a:r>
              <a:rPr sz="1800" spc="-5" dirty="0">
                <a:latin typeface="Times New Roman"/>
                <a:cs typeface="Times New Roman"/>
              </a:rPr>
              <a:t>stomach</a:t>
            </a:r>
            <a:r>
              <a:rPr sz="1800" spc="125" dirty="0">
                <a:latin typeface="Times New Roman"/>
                <a:cs typeface="Times New Roman"/>
              </a:rPr>
              <a:t> </a:t>
            </a:r>
            <a:r>
              <a:rPr sz="1800" spc="-5" dirty="0">
                <a:latin typeface="Times New Roman"/>
                <a:cs typeface="Times New Roman"/>
              </a:rPr>
              <a:t>and</a:t>
            </a:r>
            <a:r>
              <a:rPr sz="1800" spc="140" dirty="0">
                <a:latin typeface="Times New Roman"/>
                <a:cs typeface="Times New Roman"/>
              </a:rPr>
              <a:t> </a:t>
            </a:r>
            <a:r>
              <a:rPr sz="1800" dirty="0">
                <a:latin typeface="Times New Roman"/>
                <a:cs typeface="Times New Roman"/>
              </a:rPr>
              <a:t>when</a:t>
            </a:r>
            <a:r>
              <a:rPr sz="1800" spc="135" dirty="0">
                <a:latin typeface="Times New Roman"/>
                <a:cs typeface="Times New Roman"/>
              </a:rPr>
              <a:t> </a:t>
            </a:r>
            <a:r>
              <a:rPr sz="1800" dirty="0">
                <a:latin typeface="Times New Roman"/>
                <a:cs typeface="Times New Roman"/>
              </a:rPr>
              <a:t>the</a:t>
            </a:r>
            <a:r>
              <a:rPr sz="1800" spc="150" dirty="0">
                <a:latin typeface="Times New Roman"/>
                <a:cs typeface="Times New Roman"/>
              </a:rPr>
              <a:t> </a:t>
            </a:r>
            <a:r>
              <a:rPr sz="1800" spc="-5" dirty="0">
                <a:latin typeface="Times New Roman"/>
                <a:cs typeface="Times New Roman"/>
              </a:rPr>
              <a:t>cancer</a:t>
            </a:r>
            <a:endParaRPr sz="1800">
              <a:latin typeface="Times New Roman"/>
              <a:cs typeface="Times New Roman"/>
            </a:endParaRPr>
          </a:p>
          <a:p>
            <a:pPr marL="355600">
              <a:lnSpc>
                <a:spcPts val="2050"/>
              </a:lnSpc>
            </a:pPr>
            <a:r>
              <a:rPr sz="1800" dirty="0">
                <a:latin typeface="Times New Roman"/>
                <a:cs typeface="Times New Roman"/>
              </a:rPr>
              <a:t>cells</a:t>
            </a:r>
            <a:r>
              <a:rPr sz="1800" spc="-25" dirty="0">
                <a:latin typeface="Times New Roman"/>
                <a:cs typeface="Times New Roman"/>
              </a:rPr>
              <a:t> </a:t>
            </a:r>
            <a:r>
              <a:rPr sz="1800" dirty="0">
                <a:latin typeface="Times New Roman"/>
                <a:cs typeface="Times New Roman"/>
              </a:rPr>
              <a:t>starts</a:t>
            </a:r>
            <a:r>
              <a:rPr sz="1800" spc="5" dirty="0">
                <a:latin typeface="Times New Roman"/>
                <a:cs typeface="Times New Roman"/>
              </a:rPr>
              <a:t> </a:t>
            </a:r>
            <a:r>
              <a:rPr sz="1800" dirty="0">
                <a:latin typeface="Times New Roman"/>
                <a:cs typeface="Times New Roman"/>
              </a:rPr>
              <a:t>developing,</a:t>
            </a:r>
            <a:r>
              <a:rPr sz="1800" spc="-25" dirty="0">
                <a:latin typeface="Times New Roman"/>
                <a:cs typeface="Times New Roman"/>
              </a:rPr>
              <a:t> </a:t>
            </a:r>
            <a:r>
              <a:rPr sz="1800" dirty="0">
                <a:latin typeface="Times New Roman"/>
                <a:cs typeface="Times New Roman"/>
              </a:rPr>
              <a:t>it</a:t>
            </a:r>
            <a:r>
              <a:rPr sz="1800" spc="-5" dirty="0">
                <a:latin typeface="Times New Roman"/>
                <a:cs typeface="Times New Roman"/>
              </a:rPr>
              <a:t> </a:t>
            </a:r>
            <a:r>
              <a:rPr sz="1800" dirty="0">
                <a:latin typeface="Times New Roman"/>
                <a:cs typeface="Times New Roman"/>
              </a:rPr>
              <a:t>turns</a:t>
            </a:r>
            <a:r>
              <a:rPr sz="1800" spc="-5" dirty="0">
                <a:latin typeface="Times New Roman"/>
                <a:cs typeface="Times New Roman"/>
              </a:rPr>
              <a:t> </a:t>
            </a:r>
            <a:r>
              <a:rPr sz="1800" dirty="0">
                <a:latin typeface="Times New Roman"/>
                <a:cs typeface="Times New Roman"/>
              </a:rPr>
              <a:t>into</a:t>
            </a:r>
            <a:r>
              <a:rPr sz="1800" spc="-5" dirty="0">
                <a:latin typeface="Times New Roman"/>
                <a:cs typeface="Times New Roman"/>
              </a:rPr>
              <a:t> </a:t>
            </a:r>
            <a:r>
              <a:rPr sz="1800" dirty="0">
                <a:latin typeface="Times New Roman"/>
                <a:cs typeface="Times New Roman"/>
              </a:rPr>
              <a:t>the</a:t>
            </a:r>
            <a:r>
              <a:rPr sz="1800" spc="-20" dirty="0">
                <a:latin typeface="Times New Roman"/>
                <a:cs typeface="Times New Roman"/>
              </a:rPr>
              <a:t> </a:t>
            </a:r>
            <a:r>
              <a:rPr sz="1800" dirty="0">
                <a:latin typeface="Times New Roman"/>
                <a:cs typeface="Times New Roman"/>
              </a:rPr>
              <a:t>pancreatic</a:t>
            </a:r>
            <a:r>
              <a:rPr sz="1800" spc="-10" dirty="0">
                <a:latin typeface="Times New Roman"/>
                <a:cs typeface="Times New Roman"/>
              </a:rPr>
              <a:t> </a:t>
            </a:r>
            <a:r>
              <a:rPr sz="1800" spc="-15" dirty="0">
                <a:latin typeface="Times New Roman"/>
                <a:cs typeface="Times New Roman"/>
              </a:rPr>
              <a:t>cancer.</a:t>
            </a:r>
            <a:endParaRPr sz="1800">
              <a:latin typeface="Times New Roman"/>
              <a:cs typeface="Times New Roman"/>
            </a:endParaRPr>
          </a:p>
          <a:p>
            <a:pPr>
              <a:lnSpc>
                <a:spcPct val="100000"/>
              </a:lnSpc>
              <a:spcBef>
                <a:spcPts val="5"/>
              </a:spcBef>
            </a:pPr>
            <a:endParaRPr sz="2250">
              <a:latin typeface="Times New Roman"/>
              <a:cs typeface="Times New Roman"/>
            </a:endParaRPr>
          </a:p>
          <a:p>
            <a:pPr marL="355600" indent="-342900">
              <a:lnSpc>
                <a:spcPct val="100000"/>
              </a:lnSpc>
              <a:buFont typeface="Wingdings"/>
              <a:buChar char=""/>
              <a:tabLst>
                <a:tab pos="354965" algn="l"/>
                <a:tab pos="355600" algn="l"/>
              </a:tabLst>
            </a:pPr>
            <a:r>
              <a:rPr sz="1800" dirty="0">
                <a:latin typeface="Times New Roman"/>
                <a:cs typeface="Times New Roman"/>
              </a:rPr>
              <a:t>This</a:t>
            </a:r>
            <a:r>
              <a:rPr sz="1800" spc="-10" dirty="0">
                <a:latin typeface="Times New Roman"/>
                <a:cs typeface="Times New Roman"/>
              </a:rPr>
              <a:t> </a:t>
            </a:r>
            <a:r>
              <a:rPr sz="1800" spc="5" dirty="0">
                <a:latin typeface="Times New Roman"/>
                <a:cs typeface="Times New Roman"/>
              </a:rPr>
              <a:t>type</a:t>
            </a:r>
            <a:r>
              <a:rPr sz="1800" spc="-25" dirty="0">
                <a:latin typeface="Times New Roman"/>
                <a:cs typeface="Times New Roman"/>
              </a:rPr>
              <a:t> </a:t>
            </a:r>
            <a:r>
              <a:rPr sz="1800" dirty="0">
                <a:latin typeface="Times New Roman"/>
                <a:cs typeface="Times New Roman"/>
              </a:rPr>
              <a:t>of</a:t>
            </a:r>
            <a:r>
              <a:rPr sz="1800" spc="-5" dirty="0">
                <a:latin typeface="Times New Roman"/>
                <a:cs typeface="Times New Roman"/>
              </a:rPr>
              <a:t> </a:t>
            </a:r>
            <a:r>
              <a:rPr sz="1800" dirty="0">
                <a:latin typeface="Times New Roman"/>
                <a:cs typeface="Times New Roman"/>
              </a:rPr>
              <a:t>cancer </a:t>
            </a:r>
            <a:r>
              <a:rPr sz="1800" spc="-5" dirty="0">
                <a:latin typeface="Times New Roman"/>
                <a:cs typeface="Times New Roman"/>
              </a:rPr>
              <a:t>is</a:t>
            </a:r>
            <a:r>
              <a:rPr sz="1800" spc="-10" dirty="0">
                <a:latin typeface="Times New Roman"/>
                <a:cs typeface="Times New Roman"/>
              </a:rPr>
              <a:t> </a:t>
            </a:r>
            <a:r>
              <a:rPr sz="1800" dirty="0">
                <a:latin typeface="Times New Roman"/>
                <a:cs typeface="Times New Roman"/>
              </a:rPr>
              <a:t>very </a:t>
            </a:r>
            <a:r>
              <a:rPr sz="1800" spc="-5" dirty="0">
                <a:latin typeface="Times New Roman"/>
                <a:cs typeface="Times New Roman"/>
              </a:rPr>
              <a:t>difficult</a:t>
            </a:r>
            <a:r>
              <a:rPr sz="1800" spc="-10" dirty="0">
                <a:latin typeface="Times New Roman"/>
                <a:cs typeface="Times New Roman"/>
              </a:rPr>
              <a:t> </a:t>
            </a:r>
            <a:r>
              <a:rPr sz="1800" dirty="0">
                <a:latin typeface="Times New Roman"/>
                <a:cs typeface="Times New Roman"/>
              </a:rPr>
              <a:t>to</a:t>
            </a:r>
            <a:r>
              <a:rPr sz="1800" spc="5" dirty="0">
                <a:latin typeface="Times New Roman"/>
                <a:cs typeface="Times New Roman"/>
              </a:rPr>
              <a:t> </a:t>
            </a:r>
            <a:r>
              <a:rPr sz="1800" dirty="0">
                <a:latin typeface="Times New Roman"/>
                <a:cs typeface="Times New Roman"/>
              </a:rPr>
              <a:t>detect</a:t>
            </a:r>
            <a:r>
              <a:rPr sz="1800" spc="-20" dirty="0">
                <a:latin typeface="Times New Roman"/>
                <a:cs typeface="Times New Roman"/>
              </a:rPr>
              <a:t> </a:t>
            </a:r>
            <a:r>
              <a:rPr sz="1800" dirty="0">
                <a:latin typeface="Times New Roman"/>
                <a:cs typeface="Times New Roman"/>
              </a:rPr>
              <a:t>as it</a:t>
            </a:r>
            <a:r>
              <a:rPr sz="1800" spc="-5" dirty="0">
                <a:latin typeface="Times New Roman"/>
                <a:cs typeface="Times New Roman"/>
              </a:rPr>
              <a:t> is </a:t>
            </a:r>
            <a:r>
              <a:rPr sz="1800" dirty="0">
                <a:latin typeface="Times New Roman"/>
                <a:cs typeface="Times New Roman"/>
              </a:rPr>
              <a:t>never</a:t>
            </a:r>
            <a:r>
              <a:rPr sz="1800" spc="-5" dirty="0">
                <a:latin typeface="Times New Roman"/>
                <a:cs typeface="Times New Roman"/>
              </a:rPr>
              <a:t> seen</a:t>
            </a:r>
            <a:r>
              <a:rPr sz="1800" dirty="0">
                <a:latin typeface="Times New Roman"/>
                <a:cs typeface="Times New Roman"/>
              </a:rPr>
              <a:t> in</a:t>
            </a:r>
            <a:r>
              <a:rPr sz="1800" spc="-10"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dirty="0">
                <a:latin typeface="Times New Roman"/>
                <a:cs typeface="Times New Roman"/>
              </a:rPr>
              <a:t>early</a:t>
            </a:r>
            <a:r>
              <a:rPr sz="1800" spc="5" dirty="0">
                <a:latin typeface="Times New Roman"/>
                <a:cs typeface="Times New Roman"/>
              </a:rPr>
              <a:t> </a:t>
            </a:r>
            <a:r>
              <a:rPr sz="1800" spc="-5" dirty="0">
                <a:latin typeface="Times New Roman"/>
                <a:cs typeface="Times New Roman"/>
              </a:rPr>
              <a:t>phases.</a:t>
            </a:r>
            <a:endParaRPr sz="1800">
              <a:latin typeface="Times New Roman"/>
              <a:cs typeface="Times New Roman"/>
            </a:endParaRPr>
          </a:p>
          <a:p>
            <a:pPr>
              <a:lnSpc>
                <a:spcPct val="100000"/>
              </a:lnSpc>
              <a:spcBef>
                <a:spcPts val="5"/>
              </a:spcBef>
              <a:buFont typeface="Wingdings"/>
              <a:buChar char=""/>
            </a:pPr>
            <a:endParaRPr sz="2250">
              <a:latin typeface="Times New Roman"/>
              <a:cs typeface="Times New Roman"/>
            </a:endParaRPr>
          </a:p>
          <a:p>
            <a:pPr marL="355600" indent="-342900">
              <a:lnSpc>
                <a:spcPts val="2050"/>
              </a:lnSpc>
              <a:buFont typeface="Wingdings"/>
              <a:buChar char=""/>
              <a:tabLst>
                <a:tab pos="354965" algn="l"/>
                <a:tab pos="355600" algn="l"/>
              </a:tabLst>
            </a:pPr>
            <a:r>
              <a:rPr sz="1800" dirty="0">
                <a:latin typeface="Times New Roman"/>
                <a:cs typeface="Times New Roman"/>
              </a:rPr>
              <a:t>The</a:t>
            </a:r>
            <a:r>
              <a:rPr sz="1800" spc="280" dirty="0">
                <a:latin typeface="Times New Roman"/>
                <a:cs typeface="Times New Roman"/>
              </a:rPr>
              <a:t> </a:t>
            </a:r>
            <a:r>
              <a:rPr sz="1800" spc="-5" dirty="0">
                <a:latin typeface="Times New Roman"/>
                <a:cs typeface="Times New Roman"/>
              </a:rPr>
              <a:t>most</a:t>
            </a:r>
            <a:r>
              <a:rPr sz="1800" spc="260" dirty="0">
                <a:latin typeface="Times New Roman"/>
                <a:cs typeface="Times New Roman"/>
              </a:rPr>
              <a:t> </a:t>
            </a:r>
            <a:r>
              <a:rPr sz="1800" dirty="0">
                <a:latin typeface="Times New Roman"/>
                <a:cs typeface="Times New Roman"/>
              </a:rPr>
              <a:t>common</a:t>
            </a:r>
            <a:r>
              <a:rPr sz="1800" spc="275" dirty="0">
                <a:latin typeface="Times New Roman"/>
                <a:cs typeface="Times New Roman"/>
              </a:rPr>
              <a:t> </a:t>
            </a:r>
            <a:r>
              <a:rPr sz="1800" spc="-5" dirty="0">
                <a:latin typeface="Times New Roman"/>
                <a:cs typeface="Times New Roman"/>
              </a:rPr>
              <a:t>signs</a:t>
            </a:r>
            <a:r>
              <a:rPr sz="1800" spc="275" dirty="0">
                <a:latin typeface="Times New Roman"/>
                <a:cs typeface="Times New Roman"/>
              </a:rPr>
              <a:t> </a:t>
            </a:r>
            <a:r>
              <a:rPr sz="1800" spc="-5" dirty="0">
                <a:latin typeface="Times New Roman"/>
                <a:cs typeface="Times New Roman"/>
              </a:rPr>
              <a:t>that</a:t>
            </a:r>
            <a:r>
              <a:rPr sz="1800" spc="270" dirty="0">
                <a:latin typeface="Times New Roman"/>
                <a:cs typeface="Times New Roman"/>
              </a:rPr>
              <a:t> </a:t>
            </a:r>
            <a:r>
              <a:rPr sz="1800" dirty="0">
                <a:latin typeface="Times New Roman"/>
                <a:cs typeface="Times New Roman"/>
              </a:rPr>
              <a:t>a</a:t>
            </a:r>
            <a:r>
              <a:rPr sz="1800" spc="254" dirty="0">
                <a:latin typeface="Times New Roman"/>
                <a:cs typeface="Times New Roman"/>
              </a:rPr>
              <a:t> </a:t>
            </a:r>
            <a:r>
              <a:rPr sz="1800" spc="-5" dirty="0">
                <a:latin typeface="Times New Roman"/>
                <a:cs typeface="Times New Roman"/>
              </a:rPr>
              <a:t>person</a:t>
            </a:r>
            <a:r>
              <a:rPr sz="1800" spc="270" dirty="0">
                <a:latin typeface="Times New Roman"/>
                <a:cs typeface="Times New Roman"/>
              </a:rPr>
              <a:t> </a:t>
            </a:r>
            <a:r>
              <a:rPr sz="1800" dirty="0">
                <a:latin typeface="Times New Roman"/>
                <a:cs typeface="Times New Roman"/>
              </a:rPr>
              <a:t>can</a:t>
            </a:r>
            <a:r>
              <a:rPr sz="1800" spc="265" dirty="0">
                <a:latin typeface="Times New Roman"/>
                <a:cs typeface="Times New Roman"/>
              </a:rPr>
              <a:t> </a:t>
            </a:r>
            <a:r>
              <a:rPr sz="1800" spc="-5" dirty="0">
                <a:latin typeface="Times New Roman"/>
                <a:cs typeface="Times New Roman"/>
              </a:rPr>
              <a:t>reflect</a:t>
            </a:r>
            <a:r>
              <a:rPr sz="1800" spc="270" dirty="0">
                <a:latin typeface="Times New Roman"/>
                <a:cs typeface="Times New Roman"/>
              </a:rPr>
              <a:t> </a:t>
            </a:r>
            <a:r>
              <a:rPr sz="1800" dirty="0">
                <a:latin typeface="Times New Roman"/>
                <a:cs typeface="Times New Roman"/>
              </a:rPr>
              <a:t>of</a:t>
            </a:r>
            <a:r>
              <a:rPr sz="1800" spc="260" dirty="0">
                <a:latin typeface="Times New Roman"/>
                <a:cs typeface="Times New Roman"/>
              </a:rPr>
              <a:t> </a:t>
            </a:r>
            <a:r>
              <a:rPr sz="1800" spc="-5" dirty="0">
                <a:latin typeface="Times New Roman"/>
                <a:cs typeface="Times New Roman"/>
              </a:rPr>
              <a:t>having</a:t>
            </a:r>
            <a:r>
              <a:rPr sz="1800" spc="275" dirty="0">
                <a:latin typeface="Times New Roman"/>
                <a:cs typeface="Times New Roman"/>
              </a:rPr>
              <a:t> </a:t>
            </a:r>
            <a:r>
              <a:rPr sz="1800" spc="-5" dirty="0">
                <a:latin typeface="Times New Roman"/>
                <a:cs typeface="Times New Roman"/>
              </a:rPr>
              <a:t>pancreatic</a:t>
            </a:r>
            <a:r>
              <a:rPr sz="1800" spc="285" dirty="0">
                <a:latin typeface="Times New Roman"/>
                <a:cs typeface="Times New Roman"/>
              </a:rPr>
              <a:t> </a:t>
            </a:r>
            <a:r>
              <a:rPr sz="1800" spc="-5" dirty="0">
                <a:latin typeface="Times New Roman"/>
                <a:cs typeface="Times New Roman"/>
              </a:rPr>
              <a:t>cancer</a:t>
            </a:r>
            <a:r>
              <a:rPr sz="1800" spc="254" dirty="0">
                <a:latin typeface="Times New Roman"/>
                <a:cs typeface="Times New Roman"/>
              </a:rPr>
              <a:t> </a:t>
            </a:r>
            <a:r>
              <a:rPr sz="1800" spc="-5" dirty="0">
                <a:latin typeface="Times New Roman"/>
                <a:cs typeface="Times New Roman"/>
              </a:rPr>
              <a:t>is</a:t>
            </a:r>
            <a:endParaRPr sz="1800">
              <a:latin typeface="Times New Roman"/>
              <a:cs typeface="Times New Roman"/>
            </a:endParaRPr>
          </a:p>
          <a:p>
            <a:pPr marL="355600">
              <a:lnSpc>
                <a:spcPts val="2050"/>
              </a:lnSpc>
            </a:pPr>
            <a:r>
              <a:rPr sz="1800" dirty="0">
                <a:latin typeface="Times New Roman"/>
                <a:cs typeface="Times New Roman"/>
              </a:rPr>
              <a:t>jaundice</a:t>
            </a:r>
            <a:r>
              <a:rPr sz="1800" spc="-30" dirty="0">
                <a:latin typeface="Times New Roman"/>
                <a:cs typeface="Times New Roman"/>
              </a:rPr>
              <a:t> </a:t>
            </a:r>
            <a:r>
              <a:rPr sz="1800" dirty="0">
                <a:latin typeface="Times New Roman"/>
                <a:cs typeface="Times New Roman"/>
              </a:rPr>
              <a:t>and</a:t>
            </a:r>
            <a:r>
              <a:rPr sz="1800" spc="-15" dirty="0">
                <a:latin typeface="Times New Roman"/>
                <a:cs typeface="Times New Roman"/>
              </a:rPr>
              <a:t> </a:t>
            </a:r>
            <a:r>
              <a:rPr sz="1800" dirty="0">
                <a:latin typeface="Times New Roman"/>
                <a:cs typeface="Times New Roman"/>
              </a:rPr>
              <a:t>abrupt</a:t>
            </a:r>
            <a:r>
              <a:rPr sz="1800" spc="-10" dirty="0">
                <a:latin typeface="Times New Roman"/>
                <a:cs typeface="Times New Roman"/>
              </a:rPr>
              <a:t> </a:t>
            </a:r>
            <a:r>
              <a:rPr sz="1800" dirty="0">
                <a:latin typeface="Times New Roman"/>
                <a:cs typeface="Times New Roman"/>
              </a:rPr>
              <a:t>loss</a:t>
            </a:r>
            <a:r>
              <a:rPr sz="1800" spc="-10" dirty="0">
                <a:latin typeface="Times New Roman"/>
                <a:cs typeface="Times New Roman"/>
              </a:rPr>
              <a:t> </a:t>
            </a:r>
            <a:r>
              <a:rPr sz="1800" dirty="0">
                <a:latin typeface="Times New Roman"/>
                <a:cs typeface="Times New Roman"/>
              </a:rPr>
              <a:t>in</a:t>
            </a:r>
            <a:r>
              <a:rPr sz="1800" spc="-20" dirty="0">
                <a:latin typeface="Times New Roman"/>
                <a:cs typeface="Times New Roman"/>
              </a:rPr>
              <a:t> </a:t>
            </a:r>
            <a:r>
              <a:rPr sz="1800" dirty="0">
                <a:latin typeface="Times New Roman"/>
                <a:cs typeface="Times New Roman"/>
              </a:rPr>
              <a:t>their</a:t>
            </a:r>
            <a:r>
              <a:rPr sz="1800" spc="-20" dirty="0">
                <a:latin typeface="Times New Roman"/>
                <a:cs typeface="Times New Roman"/>
              </a:rPr>
              <a:t> </a:t>
            </a:r>
            <a:r>
              <a:rPr sz="1800" dirty="0">
                <a:latin typeface="Times New Roman"/>
                <a:cs typeface="Times New Roman"/>
              </a:rPr>
              <a:t>weights.</a:t>
            </a:r>
            <a:endParaRPr sz="1800">
              <a:latin typeface="Times New Roman"/>
              <a:cs typeface="Times New Roman"/>
            </a:endParaRPr>
          </a:p>
          <a:p>
            <a:pPr>
              <a:lnSpc>
                <a:spcPct val="100000"/>
              </a:lnSpc>
              <a:spcBef>
                <a:spcPts val="25"/>
              </a:spcBef>
            </a:pPr>
            <a:endParaRPr sz="2450">
              <a:latin typeface="Times New Roman"/>
              <a:cs typeface="Times New Roman"/>
            </a:endParaRPr>
          </a:p>
          <a:p>
            <a:pPr marL="355600" marR="5715" indent="-342900" algn="just">
              <a:lnSpc>
                <a:spcPts val="1939"/>
              </a:lnSpc>
              <a:buFont typeface="Wingdings"/>
              <a:buChar char=""/>
              <a:tabLst>
                <a:tab pos="355600" algn="l"/>
              </a:tabLst>
            </a:pPr>
            <a:r>
              <a:rPr sz="1800" dirty="0">
                <a:latin typeface="Times New Roman"/>
                <a:cs typeface="Times New Roman"/>
              </a:rPr>
              <a:t>It </a:t>
            </a:r>
            <a:r>
              <a:rPr sz="1800" spc="-5" dirty="0">
                <a:latin typeface="Times New Roman"/>
                <a:cs typeface="Times New Roman"/>
              </a:rPr>
              <a:t>is </a:t>
            </a:r>
            <a:r>
              <a:rPr sz="1800" dirty="0">
                <a:latin typeface="Times New Roman"/>
                <a:cs typeface="Times New Roman"/>
              </a:rPr>
              <a:t>the </a:t>
            </a:r>
            <a:r>
              <a:rPr sz="1800" spc="-5" dirty="0">
                <a:latin typeface="Times New Roman"/>
                <a:cs typeface="Times New Roman"/>
              </a:rPr>
              <a:t>world's </a:t>
            </a:r>
            <a:r>
              <a:rPr sz="1800" dirty="0">
                <a:latin typeface="Times New Roman"/>
                <a:cs typeface="Times New Roman"/>
              </a:rPr>
              <a:t>second </a:t>
            </a:r>
            <a:r>
              <a:rPr sz="1800" spc="-5" dirty="0">
                <a:latin typeface="Times New Roman"/>
                <a:cs typeface="Times New Roman"/>
              </a:rPr>
              <a:t>most frequent </a:t>
            </a:r>
            <a:r>
              <a:rPr sz="1800" spc="-20" dirty="0">
                <a:latin typeface="Times New Roman"/>
                <a:cs typeface="Times New Roman"/>
              </a:rPr>
              <a:t>cancer. </a:t>
            </a:r>
            <a:r>
              <a:rPr sz="1800" dirty="0">
                <a:latin typeface="Times New Roman"/>
                <a:cs typeface="Times New Roman"/>
              </a:rPr>
              <a:t>It aids </a:t>
            </a:r>
            <a:r>
              <a:rPr sz="1800" spc="-5" dirty="0">
                <a:latin typeface="Times New Roman"/>
                <a:cs typeface="Times New Roman"/>
              </a:rPr>
              <a:t>digestion </a:t>
            </a:r>
            <a:r>
              <a:rPr sz="1800" spc="-10" dirty="0">
                <a:latin typeface="Times New Roman"/>
                <a:cs typeface="Times New Roman"/>
              </a:rPr>
              <a:t>by </a:t>
            </a:r>
            <a:r>
              <a:rPr sz="1800" spc="-5" dirty="0">
                <a:latin typeface="Times New Roman"/>
                <a:cs typeface="Times New Roman"/>
              </a:rPr>
              <a:t>creating enzymes </a:t>
            </a:r>
            <a:r>
              <a:rPr sz="1800" dirty="0">
                <a:latin typeface="Times New Roman"/>
                <a:cs typeface="Times New Roman"/>
              </a:rPr>
              <a:t> that</a:t>
            </a:r>
            <a:r>
              <a:rPr sz="1800" spc="-20" dirty="0">
                <a:latin typeface="Times New Roman"/>
                <a:cs typeface="Times New Roman"/>
              </a:rPr>
              <a:t> </a:t>
            </a:r>
            <a:r>
              <a:rPr sz="1800" dirty="0">
                <a:latin typeface="Times New Roman"/>
                <a:cs typeface="Times New Roman"/>
              </a:rPr>
              <a:t>the body requires</a:t>
            </a:r>
            <a:r>
              <a:rPr sz="1800" spc="-10" dirty="0">
                <a:latin typeface="Times New Roman"/>
                <a:cs typeface="Times New Roman"/>
              </a:rPr>
              <a:t> </a:t>
            </a:r>
            <a:r>
              <a:rPr sz="1800" dirty="0">
                <a:latin typeface="Times New Roman"/>
                <a:cs typeface="Times New Roman"/>
              </a:rPr>
              <a:t>to</a:t>
            </a:r>
            <a:r>
              <a:rPr sz="1800" spc="-5" dirty="0">
                <a:latin typeface="Times New Roman"/>
                <a:cs typeface="Times New Roman"/>
              </a:rPr>
              <a:t> </a:t>
            </a:r>
            <a:r>
              <a:rPr sz="1800" dirty="0">
                <a:latin typeface="Times New Roman"/>
                <a:cs typeface="Times New Roman"/>
              </a:rPr>
              <a:t>break</a:t>
            </a:r>
            <a:r>
              <a:rPr sz="1800" spc="-5" dirty="0">
                <a:latin typeface="Times New Roman"/>
                <a:cs typeface="Times New Roman"/>
              </a:rPr>
              <a:t> </a:t>
            </a:r>
            <a:r>
              <a:rPr sz="1800" dirty="0">
                <a:latin typeface="Times New Roman"/>
                <a:cs typeface="Times New Roman"/>
              </a:rPr>
              <a:t>down lipids,</a:t>
            </a:r>
            <a:r>
              <a:rPr sz="1800" spc="-15" dirty="0">
                <a:latin typeface="Times New Roman"/>
                <a:cs typeface="Times New Roman"/>
              </a:rPr>
              <a:t> </a:t>
            </a:r>
            <a:r>
              <a:rPr sz="1800" dirty="0">
                <a:latin typeface="Times New Roman"/>
                <a:cs typeface="Times New Roman"/>
              </a:rPr>
              <a:t>carbs,</a:t>
            </a:r>
            <a:r>
              <a:rPr sz="1800" spc="-5" dirty="0">
                <a:latin typeface="Times New Roman"/>
                <a:cs typeface="Times New Roman"/>
              </a:rPr>
              <a:t> </a:t>
            </a:r>
            <a:r>
              <a:rPr sz="1800" dirty="0">
                <a:latin typeface="Times New Roman"/>
                <a:cs typeface="Times New Roman"/>
              </a:rPr>
              <a:t>and</a:t>
            </a:r>
            <a:r>
              <a:rPr sz="1800" spc="-5" dirty="0">
                <a:latin typeface="Times New Roman"/>
                <a:cs typeface="Times New Roman"/>
              </a:rPr>
              <a:t> </a:t>
            </a:r>
            <a:r>
              <a:rPr sz="1800" dirty="0">
                <a:latin typeface="Times New Roman"/>
                <a:cs typeface="Times New Roman"/>
              </a:rPr>
              <a:t>proteins.</a:t>
            </a:r>
            <a:endParaRPr sz="1800">
              <a:latin typeface="Times New Roman"/>
              <a:cs typeface="Times New Roman"/>
            </a:endParaRPr>
          </a:p>
          <a:p>
            <a:pPr>
              <a:lnSpc>
                <a:spcPct val="100000"/>
              </a:lnSpc>
              <a:spcBef>
                <a:spcPts val="40"/>
              </a:spcBef>
              <a:buFont typeface="Wingdings"/>
              <a:buChar char=""/>
            </a:pPr>
            <a:endParaRPr sz="2200">
              <a:latin typeface="Times New Roman"/>
              <a:cs typeface="Times New Roman"/>
            </a:endParaRPr>
          </a:p>
          <a:p>
            <a:pPr marL="355600" indent="-342900">
              <a:lnSpc>
                <a:spcPts val="2050"/>
              </a:lnSpc>
              <a:buFont typeface="Wingdings"/>
              <a:buChar char=""/>
              <a:tabLst>
                <a:tab pos="354965" algn="l"/>
                <a:tab pos="355600" algn="l"/>
              </a:tabLst>
            </a:pPr>
            <a:r>
              <a:rPr sz="1800" dirty="0">
                <a:latin typeface="Times New Roman"/>
                <a:cs typeface="Times New Roman"/>
              </a:rPr>
              <a:t>This</a:t>
            </a:r>
            <a:r>
              <a:rPr sz="1800" spc="204" dirty="0">
                <a:latin typeface="Times New Roman"/>
                <a:cs typeface="Times New Roman"/>
              </a:rPr>
              <a:t> </a:t>
            </a:r>
            <a:r>
              <a:rPr sz="1800" dirty="0">
                <a:latin typeface="Times New Roman"/>
                <a:cs typeface="Times New Roman"/>
              </a:rPr>
              <a:t>project</a:t>
            </a:r>
            <a:r>
              <a:rPr sz="1800" spc="204" dirty="0">
                <a:latin typeface="Times New Roman"/>
                <a:cs typeface="Times New Roman"/>
              </a:rPr>
              <a:t> </a:t>
            </a:r>
            <a:r>
              <a:rPr sz="1800" spc="-5" dirty="0">
                <a:latin typeface="Times New Roman"/>
                <a:cs typeface="Times New Roman"/>
              </a:rPr>
              <a:t>addresses</a:t>
            </a:r>
            <a:r>
              <a:rPr sz="1800" spc="215" dirty="0">
                <a:latin typeface="Times New Roman"/>
                <a:cs typeface="Times New Roman"/>
              </a:rPr>
              <a:t> </a:t>
            </a:r>
            <a:r>
              <a:rPr sz="1800" dirty="0">
                <a:latin typeface="Times New Roman"/>
                <a:cs typeface="Times New Roman"/>
              </a:rPr>
              <a:t>the</a:t>
            </a:r>
            <a:r>
              <a:rPr sz="1800" spc="220" dirty="0">
                <a:latin typeface="Times New Roman"/>
                <a:cs typeface="Times New Roman"/>
              </a:rPr>
              <a:t> </a:t>
            </a:r>
            <a:r>
              <a:rPr sz="1800" spc="-5" dirty="0">
                <a:latin typeface="Times New Roman"/>
                <a:cs typeface="Times New Roman"/>
              </a:rPr>
              <a:t>critical</a:t>
            </a:r>
            <a:r>
              <a:rPr sz="1800" spc="225" dirty="0">
                <a:latin typeface="Times New Roman"/>
                <a:cs typeface="Times New Roman"/>
              </a:rPr>
              <a:t> </a:t>
            </a:r>
            <a:r>
              <a:rPr sz="1800" spc="-5" dirty="0">
                <a:latin typeface="Times New Roman"/>
                <a:cs typeface="Times New Roman"/>
              </a:rPr>
              <a:t>need</a:t>
            </a:r>
            <a:r>
              <a:rPr sz="1800" spc="220" dirty="0">
                <a:latin typeface="Times New Roman"/>
                <a:cs typeface="Times New Roman"/>
              </a:rPr>
              <a:t> </a:t>
            </a:r>
            <a:r>
              <a:rPr sz="1800" dirty="0">
                <a:latin typeface="Times New Roman"/>
                <a:cs typeface="Times New Roman"/>
              </a:rPr>
              <a:t>for</a:t>
            </a:r>
            <a:r>
              <a:rPr sz="1800" spc="200" dirty="0">
                <a:latin typeface="Times New Roman"/>
                <a:cs typeface="Times New Roman"/>
              </a:rPr>
              <a:t> </a:t>
            </a:r>
            <a:r>
              <a:rPr sz="1800" dirty="0">
                <a:latin typeface="Times New Roman"/>
                <a:cs typeface="Times New Roman"/>
              </a:rPr>
              <a:t>early</a:t>
            </a:r>
            <a:r>
              <a:rPr sz="1800" spc="220" dirty="0">
                <a:latin typeface="Times New Roman"/>
                <a:cs typeface="Times New Roman"/>
              </a:rPr>
              <a:t> </a:t>
            </a:r>
            <a:r>
              <a:rPr sz="1800" spc="-5" dirty="0">
                <a:latin typeface="Times New Roman"/>
                <a:cs typeface="Times New Roman"/>
              </a:rPr>
              <a:t>detection</a:t>
            </a:r>
            <a:r>
              <a:rPr sz="1800" spc="210" dirty="0">
                <a:latin typeface="Times New Roman"/>
                <a:cs typeface="Times New Roman"/>
              </a:rPr>
              <a:t> </a:t>
            </a:r>
            <a:r>
              <a:rPr sz="1800" dirty="0">
                <a:latin typeface="Times New Roman"/>
                <a:cs typeface="Times New Roman"/>
              </a:rPr>
              <a:t>of</a:t>
            </a:r>
            <a:r>
              <a:rPr sz="1800" spc="215" dirty="0">
                <a:latin typeface="Times New Roman"/>
                <a:cs typeface="Times New Roman"/>
              </a:rPr>
              <a:t> </a:t>
            </a:r>
            <a:r>
              <a:rPr sz="1800" spc="-5" dirty="0">
                <a:latin typeface="Times New Roman"/>
                <a:cs typeface="Times New Roman"/>
              </a:rPr>
              <a:t>pancreatic</a:t>
            </a:r>
            <a:r>
              <a:rPr sz="1800" spc="215" dirty="0">
                <a:latin typeface="Times New Roman"/>
                <a:cs typeface="Times New Roman"/>
              </a:rPr>
              <a:t> </a:t>
            </a:r>
            <a:r>
              <a:rPr sz="1800" spc="-15" dirty="0">
                <a:latin typeface="Times New Roman"/>
                <a:cs typeface="Times New Roman"/>
              </a:rPr>
              <a:t>cancer,</a:t>
            </a:r>
            <a:r>
              <a:rPr sz="1800" spc="210" dirty="0">
                <a:latin typeface="Times New Roman"/>
                <a:cs typeface="Times New Roman"/>
              </a:rPr>
              <a:t> </a:t>
            </a:r>
            <a:r>
              <a:rPr sz="1800" dirty="0">
                <a:latin typeface="Times New Roman"/>
                <a:cs typeface="Times New Roman"/>
              </a:rPr>
              <a:t>a</a:t>
            </a:r>
            <a:endParaRPr sz="1800">
              <a:latin typeface="Times New Roman"/>
              <a:cs typeface="Times New Roman"/>
            </a:endParaRPr>
          </a:p>
          <a:p>
            <a:pPr marL="355600">
              <a:lnSpc>
                <a:spcPts val="2050"/>
              </a:lnSpc>
            </a:pPr>
            <a:r>
              <a:rPr sz="1800" dirty="0">
                <a:latin typeface="Times New Roman"/>
                <a:cs typeface="Times New Roman"/>
              </a:rPr>
              <a:t>disease</a:t>
            </a:r>
            <a:r>
              <a:rPr sz="1800" spc="-10" dirty="0">
                <a:latin typeface="Times New Roman"/>
                <a:cs typeface="Times New Roman"/>
              </a:rPr>
              <a:t> </a:t>
            </a:r>
            <a:r>
              <a:rPr sz="1800" dirty="0">
                <a:latin typeface="Times New Roman"/>
                <a:cs typeface="Times New Roman"/>
              </a:rPr>
              <a:t>notorious</a:t>
            </a:r>
            <a:r>
              <a:rPr sz="1800" spc="-15" dirty="0">
                <a:latin typeface="Times New Roman"/>
                <a:cs typeface="Times New Roman"/>
              </a:rPr>
              <a:t> </a:t>
            </a:r>
            <a:r>
              <a:rPr sz="1800" dirty="0">
                <a:latin typeface="Times New Roman"/>
                <a:cs typeface="Times New Roman"/>
              </a:rPr>
              <a:t>for its</a:t>
            </a:r>
            <a:r>
              <a:rPr sz="1800" spc="-5" dirty="0">
                <a:latin typeface="Times New Roman"/>
                <a:cs typeface="Times New Roman"/>
              </a:rPr>
              <a:t> </a:t>
            </a:r>
            <a:r>
              <a:rPr sz="1800" dirty="0">
                <a:latin typeface="Times New Roman"/>
                <a:cs typeface="Times New Roman"/>
              </a:rPr>
              <a:t>late-stage</a:t>
            </a:r>
            <a:r>
              <a:rPr sz="1800" spc="-30" dirty="0">
                <a:latin typeface="Times New Roman"/>
                <a:cs typeface="Times New Roman"/>
              </a:rPr>
              <a:t> </a:t>
            </a:r>
            <a:r>
              <a:rPr sz="1800" spc="-5" dirty="0">
                <a:latin typeface="Times New Roman"/>
                <a:cs typeface="Times New Roman"/>
              </a:rPr>
              <a:t>diagnosis</a:t>
            </a:r>
            <a:r>
              <a:rPr sz="1800" spc="-10" dirty="0">
                <a:latin typeface="Times New Roman"/>
                <a:cs typeface="Times New Roman"/>
              </a:rPr>
              <a:t> </a:t>
            </a:r>
            <a:r>
              <a:rPr sz="1800" dirty="0">
                <a:latin typeface="Times New Roman"/>
                <a:cs typeface="Times New Roman"/>
              </a:rPr>
              <a:t>and</a:t>
            </a:r>
            <a:r>
              <a:rPr sz="1800" spc="5" dirty="0">
                <a:latin typeface="Times New Roman"/>
                <a:cs typeface="Times New Roman"/>
              </a:rPr>
              <a:t> </a:t>
            </a:r>
            <a:r>
              <a:rPr sz="1800" spc="-5" dirty="0">
                <a:latin typeface="Times New Roman"/>
                <a:cs typeface="Times New Roman"/>
              </a:rPr>
              <a:t>limited </a:t>
            </a:r>
            <a:r>
              <a:rPr sz="1800" dirty="0">
                <a:latin typeface="Times New Roman"/>
                <a:cs typeface="Times New Roman"/>
              </a:rPr>
              <a:t>treatment</a:t>
            </a:r>
            <a:r>
              <a:rPr sz="1800" spc="-10" dirty="0">
                <a:latin typeface="Times New Roman"/>
                <a:cs typeface="Times New Roman"/>
              </a:rPr>
              <a:t> </a:t>
            </a:r>
            <a:r>
              <a:rPr sz="1800" dirty="0">
                <a:latin typeface="Times New Roman"/>
                <a:cs typeface="Times New Roman"/>
              </a:rPr>
              <a:t>options.</a:t>
            </a:r>
            <a:endParaRPr sz="1800">
              <a:latin typeface="Times New Roman"/>
              <a:cs typeface="Times New Roman"/>
            </a:endParaRPr>
          </a:p>
          <a:p>
            <a:pPr>
              <a:lnSpc>
                <a:spcPct val="100000"/>
              </a:lnSpc>
              <a:spcBef>
                <a:spcPts val="25"/>
              </a:spcBef>
            </a:pPr>
            <a:endParaRPr sz="2450">
              <a:latin typeface="Times New Roman"/>
              <a:cs typeface="Times New Roman"/>
            </a:endParaRPr>
          </a:p>
          <a:p>
            <a:pPr marL="355600" marR="5080" indent="-342900" algn="just">
              <a:lnSpc>
                <a:spcPts val="1939"/>
              </a:lnSpc>
              <a:buFont typeface="Wingdings"/>
              <a:buChar char=""/>
              <a:tabLst>
                <a:tab pos="355600" algn="l"/>
              </a:tabLst>
            </a:pPr>
            <a:r>
              <a:rPr sz="1800" dirty="0">
                <a:latin typeface="Times New Roman"/>
                <a:cs typeface="Times New Roman"/>
              </a:rPr>
              <a:t>Early</a:t>
            </a:r>
            <a:r>
              <a:rPr sz="1800" spc="5" dirty="0">
                <a:latin typeface="Times New Roman"/>
                <a:cs typeface="Times New Roman"/>
              </a:rPr>
              <a:t> </a:t>
            </a:r>
            <a:r>
              <a:rPr sz="1800" spc="-5" dirty="0">
                <a:latin typeface="Times New Roman"/>
                <a:cs typeface="Times New Roman"/>
              </a:rPr>
              <a:t>detection</a:t>
            </a:r>
            <a:r>
              <a:rPr sz="1800" dirty="0">
                <a:latin typeface="Times New Roman"/>
                <a:cs typeface="Times New Roman"/>
              </a:rPr>
              <a:t> </a:t>
            </a:r>
            <a:r>
              <a:rPr sz="1800" spc="-5" dirty="0">
                <a:latin typeface="Times New Roman"/>
                <a:cs typeface="Times New Roman"/>
              </a:rPr>
              <a:t>is</a:t>
            </a:r>
            <a:r>
              <a:rPr sz="1800" dirty="0">
                <a:latin typeface="Times New Roman"/>
                <a:cs typeface="Times New Roman"/>
              </a:rPr>
              <a:t> </a:t>
            </a:r>
            <a:r>
              <a:rPr sz="1800" spc="-5" dirty="0">
                <a:latin typeface="Times New Roman"/>
                <a:cs typeface="Times New Roman"/>
              </a:rPr>
              <a:t>crucial</a:t>
            </a:r>
            <a:r>
              <a:rPr sz="1800" dirty="0">
                <a:latin typeface="Times New Roman"/>
                <a:cs typeface="Times New Roman"/>
              </a:rPr>
              <a:t> for</a:t>
            </a:r>
            <a:r>
              <a:rPr sz="1800" spc="5" dirty="0">
                <a:latin typeface="Times New Roman"/>
                <a:cs typeface="Times New Roman"/>
              </a:rPr>
              <a:t> </a:t>
            </a:r>
            <a:r>
              <a:rPr sz="1800" dirty="0">
                <a:latin typeface="Times New Roman"/>
                <a:cs typeface="Times New Roman"/>
              </a:rPr>
              <a:t>improving</a:t>
            </a:r>
            <a:r>
              <a:rPr sz="1800" spc="5"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spc="-5" dirty="0">
                <a:latin typeface="Times New Roman"/>
                <a:cs typeface="Times New Roman"/>
              </a:rPr>
              <a:t>chances</a:t>
            </a:r>
            <a:r>
              <a:rPr sz="1800" dirty="0">
                <a:latin typeface="Times New Roman"/>
                <a:cs typeface="Times New Roman"/>
              </a:rPr>
              <a:t> of</a:t>
            </a:r>
            <a:r>
              <a:rPr sz="1800" spc="5" dirty="0">
                <a:latin typeface="Times New Roman"/>
                <a:cs typeface="Times New Roman"/>
              </a:rPr>
              <a:t> </a:t>
            </a:r>
            <a:r>
              <a:rPr sz="1800" spc="-5" dirty="0">
                <a:latin typeface="Times New Roman"/>
                <a:cs typeface="Times New Roman"/>
              </a:rPr>
              <a:t>successful</a:t>
            </a:r>
            <a:r>
              <a:rPr sz="1800" dirty="0">
                <a:latin typeface="Times New Roman"/>
                <a:cs typeface="Times New Roman"/>
              </a:rPr>
              <a:t> </a:t>
            </a:r>
            <a:r>
              <a:rPr sz="1800" spc="-5" dirty="0">
                <a:latin typeface="Times New Roman"/>
                <a:cs typeface="Times New Roman"/>
              </a:rPr>
              <a:t>treatment. </a:t>
            </a:r>
            <a:r>
              <a:rPr sz="1800" dirty="0">
                <a:latin typeface="Times New Roman"/>
                <a:cs typeface="Times New Roman"/>
              </a:rPr>
              <a:t> Machine</a:t>
            </a:r>
            <a:r>
              <a:rPr sz="1800" spc="5" dirty="0">
                <a:latin typeface="Times New Roman"/>
                <a:cs typeface="Times New Roman"/>
              </a:rPr>
              <a:t> </a:t>
            </a:r>
            <a:r>
              <a:rPr sz="1800" spc="-5" dirty="0">
                <a:latin typeface="Times New Roman"/>
                <a:cs typeface="Times New Roman"/>
              </a:rPr>
              <a:t>learning</a:t>
            </a:r>
            <a:r>
              <a:rPr sz="1800" dirty="0">
                <a:latin typeface="Times New Roman"/>
                <a:cs typeface="Times New Roman"/>
              </a:rPr>
              <a:t> techniques,</a:t>
            </a:r>
            <a:r>
              <a:rPr sz="1800" spc="5" dirty="0">
                <a:latin typeface="Times New Roman"/>
                <a:cs typeface="Times New Roman"/>
              </a:rPr>
              <a:t> </a:t>
            </a:r>
            <a:r>
              <a:rPr sz="1800" dirty="0">
                <a:latin typeface="Times New Roman"/>
                <a:cs typeface="Times New Roman"/>
              </a:rPr>
              <a:t>such</a:t>
            </a:r>
            <a:r>
              <a:rPr sz="1800" spc="5" dirty="0">
                <a:latin typeface="Times New Roman"/>
                <a:cs typeface="Times New Roman"/>
              </a:rPr>
              <a:t> </a:t>
            </a:r>
            <a:r>
              <a:rPr sz="1800" spc="-5" dirty="0">
                <a:latin typeface="Times New Roman"/>
                <a:cs typeface="Times New Roman"/>
              </a:rPr>
              <a:t>as</a:t>
            </a:r>
            <a:r>
              <a:rPr sz="1800" dirty="0">
                <a:latin typeface="Times New Roman"/>
                <a:cs typeface="Times New Roman"/>
              </a:rPr>
              <a:t> </a:t>
            </a:r>
            <a:r>
              <a:rPr sz="1800" spc="-5" dirty="0">
                <a:latin typeface="Times New Roman"/>
                <a:cs typeface="Times New Roman"/>
              </a:rPr>
              <a:t>Random</a:t>
            </a:r>
            <a:r>
              <a:rPr sz="1800" dirty="0">
                <a:latin typeface="Times New Roman"/>
                <a:cs typeface="Times New Roman"/>
              </a:rPr>
              <a:t> </a:t>
            </a:r>
            <a:r>
              <a:rPr sz="1800" spc="-5" dirty="0">
                <a:latin typeface="Times New Roman"/>
                <a:cs typeface="Times New Roman"/>
              </a:rPr>
              <a:t>Forest,</a:t>
            </a:r>
            <a:r>
              <a:rPr sz="1800" dirty="0">
                <a:latin typeface="Times New Roman"/>
                <a:cs typeface="Times New Roman"/>
              </a:rPr>
              <a:t> </a:t>
            </a:r>
            <a:r>
              <a:rPr sz="1800" spc="-5" dirty="0">
                <a:latin typeface="Times New Roman"/>
                <a:cs typeface="Times New Roman"/>
              </a:rPr>
              <a:t>capable</a:t>
            </a:r>
            <a:r>
              <a:rPr sz="1800" dirty="0">
                <a:latin typeface="Times New Roman"/>
                <a:cs typeface="Times New Roman"/>
              </a:rPr>
              <a:t> of</a:t>
            </a:r>
            <a:r>
              <a:rPr sz="1800" spc="5" dirty="0">
                <a:latin typeface="Times New Roman"/>
                <a:cs typeface="Times New Roman"/>
              </a:rPr>
              <a:t> </a:t>
            </a:r>
            <a:r>
              <a:rPr sz="1800" spc="-5" dirty="0">
                <a:latin typeface="Times New Roman"/>
                <a:cs typeface="Times New Roman"/>
              </a:rPr>
              <a:t>identifying </a:t>
            </a:r>
            <a:r>
              <a:rPr sz="1800" dirty="0">
                <a:latin typeface="Times New Roman"/>
                <a:cs typeface="Times New Roman"/>
              </a:rPr>
              <a:t> potential</a:t>
            </a:r>
            <a:r>
              <a:rPr sz="1800" spc="-35" dirty="0">
                <a:latin typeface="Times New Roman"/>
                <a:cs typeface="Times New Roman"/>
              </a:rPr>
              <a:t> </a:t>
            </a:r>
            <a:r>
              <a:rPr sz="1800" dirty="0">
                <a:latin typeface="Times New Roman"/>
                <a:cs typeface="Times New Roman"/>
              </a:rPr>
              <a:t>cases</a:t>
            </a:r>
            <a:r>
              <a:rPr sz="1800" spc="5" dirty="0">
                <a:latin typeface="Times New Roman"/>
                <a:cs typeface="Times New Roman"/>
              </a:rPr>
              <a:t> </a:t>
            </a:r>
            <a:r>
              <a:rPr sz="1800" dirty="0">
                <a:latin typeface="Times New Roman"/>
                <a:cs typeface="Times New Roman"/>
              </a:rPr>
              <a:t>of</a:t>
            </a:r>
            <a:r>
              <a:rPr sz="1800" spc="-10" dirty="0">
                <a:latin typeface="Times New Roman"/>
                <a:cs typeface="Times New Roman"/>
              </a:rPr>
              <a:t> </a:t>
            </a:r>
            <a:r>
              <a:rPr sz="1800" dirty="0">
                <a:latin typeface="Times New Roman"/>
                <a:cs typeface="Times New Roman"/>
              </a:rPr>
              <a:t>pancreatic</a:t>
            </a:r>
            <a:r>
              <a:rPr sz="1800" spc="-20" dirty="0">
                <a:latin typeface="Times New Roman"/>
                <a:cs typeface="Times New Roman"/>
              </a:rPr>
              <a:t> </a:t>
            </a:r>
            <a:r>
              <a:rPr sz="1800" dirty="0">
                <a:latin typeface="Times New Roman"/>
                <a:cs typeface="Times New Roman"/>
              </a:rPr>
              <a:t>cancer in</a:t>
            </a:r>
            <a:r>
              <a:rPr sz="1800" spc="-10" dirty="0">
                <a:latin typeface="Times New Roman"/>
                <a:cs typeface="Times New Roman"/>
              </a:rPr>
              <a:t> </a:t>
            </a:r>
            <a:r>
              <a:rPr sz="1800" spc="-5" dirty="0">
                <a:latin typeface="Times New Roman"/>
                <a:cs typeface="Times New Roman"/>
              </a:rPr>
              <a:t>its</a:t>
            </a:r>
            <a:r>
              <a:rPr sz="1800" spc="-10" dirty="0">
                <a:latin typeface="Times New Roman"/>
                <a:cs typeface="Times New Roman"/>
              </a:rPr>
              <a:t> </a:t>
            </a:r>
            <a:r>
              <a:rPr sz="1800" dirty="0">
                <a:latin typeface="Times New Roman"/>
                <a:cs typeface="Times New Roman"/>
              </a:rPr>
              <a:t>early</a:t>
            </a:r>
            <a:r>
              <a:rPr sz="1800" spc="-10" dirty="0">
                <a:latin typeface="Times New Roman"/>
                <a:cs typeface="Times New Roman"/>
              </a:rPr>
              <a:t> </a:t>
            </a:r>
            <a:r>
              <a:rPr sz="1800" dirty="0">
                <a:latin typeface="Times New Roman"/>
                <a:cs typeface="Times New Roman"/>
              </a:rPr>
              <a:t>stages.</a:t>
            </a:r>
            <a:endParaRPr sz="180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05DE4-32D0-7B6A-F394-768F2C2D38AA}"/>
              </a:ext>
            </a:extLst>
          </p:cNvPr>
          <p:cNvSpPr>
            <a:spLocks noGrp="1"/>
          </p:cNvSpPr>
          <p:nvPr>
            <p:ph type="title"/>
          </p:nvPr>
        </p:nvSpPr>
        <p:spPr>
          <a:xfrm>
            <a:off x="535940" y="632586"/>
            <a:ext cx="7388859" cy="384721"/>
          </a:xfrm>
        </p:spPr>
        <p:txBody>
          <a:bodyPr/>
          <a:lstStyle/>
          <a:p>
            <a:r>
              <a:rPr lang="en-IN" dirty="0"/>
              <a:t>                              EXISTING SYSTEM </a:t>
            </a:r>
          </a:p>
        </p:txBody>
      </p:sp>
      <p:sp>
        <p:nvSpPr>
          <p:cNvPr id="3" name="Text Placeholder 2">
            <a:extLst>
              <a:ext uri="{FF2B5EF4-FFF2-40B4-BE49-F238E27FC236}">
                <a16:creationId xmlns:a16="http://schemas.microsoft.com/office/drawing/2014/main" id="{BD4509DB-F296-6E27-4E6F-D198D8915193}"/>
              </a:ext>
            </a:extLst>
          </p:cNvPr>
          <p:cNvSpPr>
            <a:spLocks noGrp="1"/>
          </p:cNvSpPr>
          <p:nvPr>
            <p:ph type="body" idx="1"/>
          </p:nvPr>
        </p:nvSpPr>
        <p:spPr>
          <a:xfrm>
            <a:off x="535940" y="1447800"/>
            <a:ext cx="8073390" cy="3354765"/>
          </a:xfrm>
        </p:spPr>
        <p:txBody>
          <a:bodyPr/>
          <a:lstStyle/>
          <a:p>
            <a:pPr algn="just"/>
            <a:r>
              <a:rPr lang="en-US" sz="2000" dirty="0">
                <a:solidFill>
                  <a:srgbClr val="231F20"/>
                </a:solidFill>
                <a:effectLst/>
                <a:latin typeface="Times New Roman" panose="02020603050405020304" pitchFamily="18" charset="0"/>
                <a:ea typeface="Times New Roman" panose="02020603050405020304" pitchFamily="18" charset="0"/>
              </a:rPr>
              <a:t> </a:t>
            </a:r>
          </a:p>
          <a:p>
            <a:pPr algn="just"/>
            <a:r>
              <a:rPr lang="en-US" sz="2000" dirty="0">
                <a:solidFill>
                  <a:srgbClr val="231F20"/>
                </a:solidFill>
                <a:effectLst/>
                <a:latin typeface="Times New Roman" panose="02020603050405020304" pitchFamily="18" charset="0"/>
                <a:ea typeface="Times New Roman" panose="02020603050405020304" pitchFamily="18" charset="0"/>
              </a:rPr>
              <a:t>In the Existing System the classification</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algorithms</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machine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learning</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with</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best</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accuracy</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are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needed to assist the medical field in classifying individuals with</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pancreatic cancer. In this research, classification algorithms of</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Decision</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Tree</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and</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Logistic</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Regression</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were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used.</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Furthermore,</a:t>
            </a:r>
            <a:r>
              <a:rPr lang="en-US" sz="2000" spc="-215" dirty="0">
                <a:solidFill>
                  <a:srgbClr val="231F20"/>
                </a:solidFill>
                <a:effectLst/>
                <a:latin typeface="Times New Roman" panose="02020603050405020304" pitchFamily="18" charset="0"/>
                <a:ea typeface="Times New Roman" panose="02020603050405020304" pitchFamily="18" charset="0"/>
              </a:rPr>
              <a:t> </a:t>
            </a:r>
            <a:r>
              <a:rPr lang="en-US" sz="2000" spc="-5" dirty="0">
                <a:solidFill>
                  <a:srgbClr val="231F20"/>
                </a:solidFill>
                <a:effectLst/>
                <a:latin typeface="Times New Roman" panose="02020603050405020304" pitchFamily="18" charset="0"/>
                <a:ea typeface="Times New Roman" panose="02020603050405020304" pitchFamily="18" charset="0"/>
              </a:rPr>
              <a:t>these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5" dirty="0">
                <a:solidFill>
                  <a:srgbClr val="231F20"/>
                </a:solidFill>
                <a:effectLst/>
                <a:latin typeface="Times New Roman" panose="02020603050405020304" pitchFamily="18" charset="0"/>
                <a:ea typeface="Times New Roman" panose="02020603050405020304" pitchFamily="18" charset="0"/>
              </a:rPr>
              <a:t>two</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5" dirty="0">
                <a:solidFill>
                  <a:srgbClr val="231F20"/>
                </a:solidFill>
                <a:effectLst/>
                <a:latin typeface="Times New Roman" panose="02020603050405020304" pitchFamily="18" charset="0"/>
                <a:ea typeface="Times New Roman" panose="02020603050405020304" pitchFamily="18" charset="0"/>
              </a:rPr>
              <a:t>methods</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5" dirty="0">
                <a:solidFill>
                  <a:srgbClr val="231F20"/>
                </a:solidFill>
                <a:effectLst/>
                <a:latin typeface="Times New Roman" panose="02020603050405020304" pitchFamily="18" charset="0"/>
                <a:ea typeface="Times New Roman" panose="02020603050405020304" pitchFamily="18" charset="0"/>
              </a:rPr>
              <a:t>were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5" dirty="0">
                <a:solidFill>
                  <a:srgbClr val="231F20"/>
                </a:solidFill>
                <a:effectLst/>
                <a:latin typeface="Times New Roman" panose="02020603050405020304" pitchFamily="18" charset="0"/>
                <a:ea typeface="Times New Roman" panose="02020603050405020304" pitchFamily="18" charset="0"/>
              </a:rPr>
              <a:t>compared</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5" dirty="0">
                <a:solidFill>
                  <a:srgbClr val="231F20"/>
                </a:solidFill>
                <a:effectLst/>
                <a:latin typeface="Times New Roman" panose="02020603050405020304" pitchFamily="18" charset="0"/>
                <a:ea typeface="Times New Roman" panose="02020603050405020304" pitchFamily="18" charset="0"/>
              </a:rPr>
              <a:t>to</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5" dirty="0">
                <a:solidFill>
                  <a:srgbClr val="231F20"/>
                </a:solidFill>
                <a:effectLst/>
                <a:latin typeface="Times New Roman" panose="02020603050405020304" pitchFamily="18" charset="0"/>
                <a:ea typeface="Times New Roman" panose="02020603050405020304" pitchFamily="18" charset="0"/>
              </a:rPr>
              <a:t>discover</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which</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has</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best</a:t>
            </a:r>
            <a:r>
              <a:rPr lang="en-US" sz="2000" spc="-2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performance based on accuracy. The results showed that the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Decision</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Tree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and</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Logistic</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Regression</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yielded</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50%</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and</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72.68% respectively as their highest accuracy. Therefore, the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Logistic Regression</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is</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better</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method</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based</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on</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accuracy</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for</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classifying pancreatic cancer.</a:t>
            </a:r>
          </a:p>
          <a:p>
            <a:endParaRPr lang="en-IN" dirty="0"/>
          </a:p>
        </p:txBody>
      </p:sp>
    </p:spTree>
    <p:extLst>
      <p:ext uri="{BB962C8B-B14F-4D97-AF65-F5344CB8AC3E}">
        <p14:creationId xmlns:p14="http://schemas.microsoft.com/office/powerpoint/2010/main" val="4043937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0" y="623442"/>
            <a:ext cx="2142109" cy="396904"/>
          </a:xfrm>
          <a:prstGeom prst="rect">
            <a:avLst/>
          </a:prstGeom>
        </p:spPr>
        <p:txBody>
          <a:bodyPr vert="horz" wrap="square" lIns="0" tIns="12065" rIns="0" bIns="0" rtlCol="0">
            <a:spAutoFit/>
          </a:bodyPr>
          <a:lstStyle/>
          <a:p>
            <a:pPr marL="12700">
              <a:lnSpc>
                <a:spcPct val="100000"/>
              </a:lnSpc>
              <a:spcBef>
                <a:spcPts val="95"/>
              </a:spcBef>
            </a:pPr>
            <a:r>
              <a:rPr lang="en-IN" spc="-5" dirty="0">
                <a:latin typeface="Calibri"/>
                <a:cs typeface="Calibri"/>
              </a:rPr>
              <a:t> </a:t>
            </a:r>
            <a:r>
              <a:rPr spc="-5" dirty="0">
                <a:latin typeface="Calibri"/>
                <a:cs typeface="Calibri"/>
              </a:rPr>
              <a:t>P</a:t>
            </a:r>
            <a:r>
              <a:rPr spc="-20" dirty="0">
                <a:latin typeface="Calibri"/>
                <a:cs typeface="Calibri"/>
              </a:rPr>
              <a:t>U</a:t>
            </a:r>
            <a:r>
              <a:rPr spc="-5" dirty="0">
                <a:latin typeface="Calibri"/>
                <a:cs typeface="Calibri"/>
              </a:rPr>
              <a:t>RPOSE</a:t>
            </a:r>
          </a:p>
        </p:txBody>
      </p:sp>
      <p:sp>
        <p:nvSpPr>
          <p:cNvPr id="4" name="object 4"/>
          <p:cNvSpPr txBox="1">
            <a:spLocks noGrp="1"/>
          </p:cNvSpPr>
          <p:nvPr>
            <p:ph type="sldNum" sz="quarter" idx="7"/>
          </p:nvPr>
        </p:nvSpPr>
        <p:spPr>
          <a:prstGeom prst="rect">
            <a:avLst/>
          </a:prstGeom>
        </p:spPr>
        <p:txBody>
          <a:bodyPr vert="horz" wrap="square" lIns="0" tIns="8255" rIns="0" bIns="0" rtlCol="0">
            <a:spAutoFit/>
          </a:bodyPr>
          <a:lstStyle/>
          <a:p>
            <a:pPr marL="38100">
              <a:lnSpc>
                <a:spcPct val="100000"/>
              </a:lnSpc>
              <a:spcBef>
                <a:spcPts val="65"/>
              </a:spcBef>
            </a:pPr>
            <a:fld id="{81D60167-4931-47E6-BA6A-407CBD079E47}" type="slidenum">
              <a:rPr dirty="0"/>
              <a:t>6</a:t>
            </a:fld>
            <a:endParaRPr dirty="0"/>
          </a:p>
        </p:txBody>
      </p:sp>
      <p:sp>
        <p:nvSpPr>
          <p:cNvPr id="3" name="object 3"/>
          <p:cNvSpPr txBox="1"/>
          <p:nvPr/>
        </p:nvSpPr>
        <p:spPr>
          <a:xfrm>
            <a:off x="535940" y="1653032"/>
            <a:ext cx="8074025" cy="4963538"/>
          </a:xfrm>
          <a:prstGeom prst="rect">
            <a:avLst/>
          </a:prstGeom>
        </p:spPr>
        <p:txBody>
          <a:bodyPr vert="horz" wrap="square" lIns="0" tIns="13335" rIns="0" bIns="0" rtlCol="0">
            <a:spAutoFit/>
          </a:bodyPr>
          <a:lstStyle/>
          <a:p>
            <a:pPr marL="12700" marR="5080" algn="just">
              <a:spcBef>
                <a:spcPts val="105"/>
              </a:spcBef>
              <a:tabLst>
                <a:tab pos="355600" algn="l"/>
              </a:tabLst>
            </a:pPr>
            <a:r>
              <a:rPr lang="en-US" sz="2000" dirty="0">
                <a:latin typeface="Times New Roman" panose="02020603050405020304" pitchFamily="18" charset="0"/>
                <a:cs typeface="Times New Roman" panose="02020603050405020304" pitchFamily="18" charset="0"/>
              </a:rPr>
              <a:t>The proposed system analyzes the accuracy of prediction of PC using machine learning techniques: SVM, Random Forest , Decision Tree and Extra Tree Classifier. These classifiers come under the category of supervised learning in machine learning. The classifier or the algorithm will be trained with the dataset that has the features and labels regarding PC, hence it becomes a trained model to predict the label. The trained model will be tested with new data or with random features from dataset The performance of SVM, Random Forest , Decision Tree and Extra Tree Classifiers are compared to find out which classifier have better accuracy among them. Also predicts the outcome that is whether the chosen person has the disease or not.</a:t>
            </a:r>
            <a:r>
              <a:rPr lang="en-US" sz="2000" dirty="0"/>
              <a:t> By comparing the values that are given from those methods , it is possible to conclude that Random Forest generates a better result than SVM, Extra Tress and  Decision Tree. </a:t>
            </a:r>
            <a:endParaRPr lang="en-US" sz="2000" dirty="0">
              <a:latin typeface="Times New Roman" panose="02020603050405020304" pitchFamily="18" charset="0"/>
              <a:cs typeface="Times New Roman" panose="02020603050405020304" pitchFamily="18" charset="0"/>
            </a:endParaRPr>
          </a:p>
          <a:p>
            <a:pPr marL="355600" marR="5080" indent="-342900" algn="just">
              <a:lnSpc>
                <a:spcPct val="100000"/>
              </a:lnSpc>
              <a:spcBef>
                <a:spcPts val="105"/>
              </a:spcBef>
              <a:buFont typeface="Wingdings"/>
              <a:buChar char=""/>
              <a:tabLst>
                <a:tab pos="355600" algn="l"/>
              </a:tabLst>
            </a:pPr>
            <a:endParaRPr lang="en-US" sz="2000" spc="-15" dirty="0">
              <a:latin typeface="Times New Roman" panose="02020603050405020304" pitchFamily="18" charset="0"/>
              <a:cs typeface="Times New Roman" panose="02020603050405020304" pitchFamily="18" charset="0"/>
            </a:endParaRPr>
          </a:p>
          <a:p>
            <a:pPr marL="355600" marR="5080" indent="-342900" algn="just">
              <a:lnSpc>
                <a:spcPct val="100000"/>
              </a:lnSpc>
              <a:spcBef>
                <a:spcPts val="105"/>
              </a:spcBef>
              <a:buFont typeface="Wingdings"/>
              <a:buChar char=""/>
              <a:tabLst>
                <a:tab pos="355600" algn="l"/>
              </a:tabLst>
            </a:pPr>
            <a:endParaRPr lang="en-IN" sz="2000" spc="-15" dirty="0">
              <a:latin typeface="Times New Roman"/>
              <a:cs typeface="Times New Roman"/>
            </a:endParaRPr>
          </a:p>
          <a:p>
            <a:pPr marL="355600" marR="5715" indent="-342900" algn="just">
              <a:lnSpc>
                <a:spcPct val="100000"/>
              </a:lnSpc>
              <a:buFont typeface="Wingdings"/>
              <a:buChar char=""/>
              <a:tabLst>
                <a:tab pos="355600" algn="l"/>
              </a:tabLst>
            </a:pPr>
            <a:endParaRPr sz="20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61501-22DB-B514-484A-490FCF33DB25}"/>
              </a:ext>
            </a:extLst>
          </p:cNvPr>
          <p:cNvSpPr>
            <a:spLocks noGrp="1"/>
          </p:cNvSpPr>
          <p:nvPr>
            <p:ph type="title"/>
          </p:nvPr>
        </p:nvSpPr>
        <p:spPr>
          <a:xfrm>
            <a:off x="535940" y="838200"/>
            <a:ext cx="7541260" cy="738664"/>
          </a:xfrm>
        </p:spPr>
        <p:txBody>
          <a:bodyPr/>
          <a:lstStyle/>
          <a:p>
            <a:r>
              <a:rPr lang="en-IN" sz="2400" b="1" dirty="0"/>
              <a:t>HARDWARE AND SOFTWARE REQUIREMENTS</a:t>
            </a:r>
          </a:p>
        </p:txBody>
      </p:sp>
      <p:sp>
        <p:nvSpPr>
          <p:cNvPr id="3" name="Text Placeholder 2">
            <a:extLst>
              <a:ext uri="{FF2B5EF4-FFF2-40B4-BE49-F238E27FC236}">
                <a16:creationId xmlns:a16="http://schemas.microsoft.com/office/drawing/2014/main" id="{27FF0EBE-D868-4E09-E0CC-3BA4473516B9}"/>
              </a:ext>
            </a:extLst>
          </p:cNvPr>
          <p:cNvSpPr>
            <a:spLocks noGrp="1"/>
          </p:cNvSpPr>
          <p:nvPr>
            <p:ph type="body" idx="1"/>
          </p:nvPr>
        </p:nvSpPr>
        <p:spPr>
          <a:xfrm>
            <a:off x="535940" y="1930348"/>
            <a:ext cx="8073390" cy="4493538"/>
          </a:xfrm>
        </p:spPr>
        <p:txBody>
          <a:bodyPr/>
          <a:lstStyle/>
          <a:p>
            <a:r>
              <a:rPr lang="en-IN" dirty="0"/>
              <a:t> </a:t>
            </a:r>
            <a:r>
              <a:rPr lang="en-IN" sz="2400" b="1" dirty="0"/>
              <a:t>HARDWARE REQUIREMENTS:</a:t>
            </a:r>
          </a:p>
          <a:p>
            <a:endParaRPr lang="en-IN" sz="2400" b="1" dirty="0"/>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HARD DISK : 500 GB - 1 TB </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RAM : 4GB</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PROCESSOR : Intel core i5</a:t>
            </a:r>
          </a:p>
          <a:p>
            <a:endParaRPr lang="en-IN" sz="2000" dirty="0">
              <a:latin typeface="Times New Roman" panose="02020603050405020304" pitchFamily="18" charset="0"/>
              <a:cs typeface="Times New Roman" panose="02020603050405020304" pitchFamily="18" charset="0"/>
            </a:endParaRPr>
          </a:p>
          <a:p>
            <a:r>
              <a:rPr lang="en-IN" sz="2400" b="1" dirty="0"/>
              <a:t> SOFTWARE REQUIREMENTS</a:t>
            </a:r>
            <a:r>
              <a:rPr lang="en-IN" sz="2400" b="1"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dirty="0"/>
              <a:t>OPERATING SYSTEM : WINDOWS 7 AND ABOVE</a:t>
            </a:r>
          </a:p>
          <a:p>
            <a:pPr marL="800100" lvl="1" indent="-342900">
              <a:buFont typeface="Arial" panose="020B0604020202020204" pitchFamily="34" charset="0"/>
              <a:buChar char="•"/>
            </a:pPr>
            <a:r>
              <a:rPr lang="en-US" sz="2000" dirty="0"/>
              <a:t>TECHNOLOGY STACK : PYTHON 3.6</a:t>
            </a:r>
          </a:p>
          <a:p>
            <a:pPr marL="800100" lvl="1" indent="-342900">
              <a:buFont typeface="Arial" panose="020B0604020202020204" pitchFamily="34" charset="0"/>
              <a:buChar char="•"/>
            </a:pPr>
            <a:r>
              <a:rPr lang="en-US" sz="2000" dirty="0"/>
              <a:t>TOOLS : JUPYTER NOTEBOOK 6.0.3, FLASK,PYCHARM</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2955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02BE7-288B-137C-AF44-F7FEB20AE983}"/>
              </a:ext>
            </a:extLst>
          </p:cNvPr>
          <p:cNvSpPr>
            <a:spLocks noGrp="1"/>
          </p:cNvSpPr>
          <p:nvPr>
            <p:ph type="title"/>
          </p:nvPr>
        </p:nvSpPr>
        <p:spPr>
          <a:xfrm>
            <a:off x="1371600" y="609600"/>
            <a:ext cx="5334000" cy="384721"/>
          </a:xfrm>
        </p:spPr>
        <p:txBody>
          <a:bodyPr/>
          <a:lstStyle/>
          <a:p>
            <a:r>
              <a:rPr lang="en-IN" b="1" dirty="0"/>
              <a:t>FUNCTIONAL REQUIREMENTS</a:t>
            </a:r>
          </a:p>
        </p:txBody>
      </p:sp>
      <p:sp>
        <p:nvSpPr>
          <p:cNvPr id="3" name="Text Placeholder 2">
            <a:extLst>
              <a:ext uri="{FF2B5EF4-FFF2-40B4-BE49-F238E27FC236}">
                <a16:creationId xmlns:a16="http://schemas.microsoft.com/office/drawing/2014/main" id="{8E265EF3-C452-BDF0-1666-899375CC2239}"/>
              </a:ext>
            </a:extLst>
          </p:cNvPr>
          <p:cNvSpPr>
            <a:spLocks noGrp="1"/>
          </p:cNvSpPr>
          <p:nvPr>
            <p:ph type="body" idx="1"/>
          </p:nvPr>
        </p:nvSpPr>
        <p:spPr>
          <a:xfrm>
            <a:off x="533400" y="1295401"/>
            <a:ext cx="8001000" cy="4953000"/>
          </a:xfrm>
        </p:spPr>
        <p:txBody>
          <a:bodyPr/>
          <a:lstStyle/>
          <a:p>
            <a:r>
              <a:rPr lang="en-IN" b="1" dirty="0"/>
              <a:t>1. Data Loading : </a:t>
            </a:r>
            <a:r>
              <a:rPr lang="en-US" dirty="0">
                <a:solidFill>
                  <a:srgbClr val="040C28"/>
                </a:solidFill>
                <a:latin typeface="Times New Roman" panose="02020603050405020304" pitchFamily="18" charset="0"/>
                <a:cs typeface="Times New Roman" panose="02020603050405020304" pitchFamily="18" charset="0"/>
              </a:rPr>
              <a:t>The</a:t>
            </a:r>
            <a:r>
              <a:rPr lang="en-US" b="0" i="0" dirty="0">
                <a:solidFill>
                  <a:srgbClr val="040C28"/>
                </a:solidFill>
                <a:effectLst/>
                <a:latin typeface="Times New Roman" panose="02020603050405020304" pitchFamily="18" charset="0"/>
                <a:cs typeface="Times New Roman" panose="02020603050405020304" pitchFamily="18" charset="0"/>
              </a:rPr>
              <a:t> data that we need to load for starting any of the ML project</a:t>
            </a:r>
            <a:r>
              <a:rPr lang="en-US" b="0" i="0" dirty="0">
                <a:solidFill>
                  <a:srgbClr val="1F1F1F"/>
                </a:solidFill>
                <a:effectLst/>
                <a:latin typeface="Times New Roman" panose="02020603050405020304" pitchFamily="18" charset="0"/>
                <a:cs typeface="Times New Roman" panose="02020603050405020304" pitchFamily="18" charset="0"/>
              </a:rPr>
              <a:t>. With respect to data, the most common format of data for ML projects is CSV (comma-separated values).</a:t>
            </a:r>
          </a:p>
          <a:p>
            <a:r>
              <a:rPr lang="en-US" dirty="0">
                <a:solidFill>
                  <a:srgbClr val="1F1F1F"/>
                </a:solidFill>
                <a:latin typeface="Times New Roman" panose="02020603050405020304" pitchFamily="18" charset="0"/>
                <a:cs typeface="Times New Roman" panose="02020603050405020304" pitchFamily="18" charset="0"/>
              </a:rPr>
              <a:t> </a:t>
            </a:r>
          </a:p>
          <a:p>
            <a:r>
              <a:rPr lang="en-US" b="1" dirty="0">
                <a:solidFill>
                  <a:srgbClr val="1F1F1F"/>
                </a:solidFill>
                <a:latin typeface="Times New Roman" panose="02020603050405020304" pitchFamily="18" charset="0"/>
                <a:cs typeface="Times New Roman" panose="02020603050405020304" pitchFamily="18" charset="0"/>
              </a:rPr>
              <a:t>2. Data Preprocessing : </a:t>
            </a:r>
            <a:r>
              <a:rPr lang="en-US" b="0" i="0" dirty="0">
                <a:effectLst/>
                <a:latin typeface="Times New Roman" panose="02020603050405020304" pitchFamily="18" charset="0"/>
                <a:cs typeface="Times New Roman" panose="02020603050405020304" pitchFamily="18" charset="0"/>
              </a:rPr>
              <a:t>Data preprocessing is about preparing the raw data and making it suitable for a machine learning model.</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a:t>
            </a:r>
            <a:r>
              <a:rPr lang="en-US" sz="1800" b="1" dirty="0">
                <a:latin typeface="Times New Roman" panose="02020603050405020304" pitchFamily="18" charset="0"/>
                <a:cs typeface="Times New Roman" panose="02020603050405020304" pitchFamily="18" charset="0"/>
              </a:rPr>
              <a:t> Model Training :</a:t>
            </a:r>
            <a:r>
              <a:rPr lang="en-US" b="0" i="0" dirty="0">
                <a:effectLst/>
                <a:latin typeface="Times New Roman" panose="02020603050405020304" pitchFamily="18" charset="0"/>
                <a:cs typeface="Times New Roman" panose="02020603050405020304" pitchFamily="18" charset="0"/>
              </a:rPr>
              <a:t>Model training is a fundamental step in machine learning where a model learns the patterns and relationships within the data.</a:t>
            </a:r>
          </a:p>
          <a:p>
            <a:endParaRPr lang="en-US" sz="1800"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4.Model Evaluation : </a:t>
            </a:r>
            <a:r>
              <a:rPr lang="en-US" sz="1800" dirty="0">
                <a:latin typeface="Times New Roman" panose="02020603050405020304" pitchFamily="18" charset="0"/>
                <a:cs typeface="Times New Roman" panose="02020603050405020304" pitchFamily="18" charset="0"/>
              </a:rPr>
              <a:t>Admin should be able to evaluate the accuracy and performance of the trained model.</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5. Prediction : </a:t>
            </a:r>
            <a:r>
              <a:rPr lang="en-US" b="0" i="0" dirty="0">
                <a:effectLst/>
                <a:latin typeface="Times New Roman" panose="02020603050405020304" pitchFamily="18" charset="0"/>
                <a:cs typeface="Times New Roman" panose="02020603050405020304" pitchFamily="18" charset="0"/>
              </a:rPr>
              <a:t>Once a machine learning model has been trained on a dataset, it can be applied to make predictions on new instances based on the learned patterns and relationships.</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7653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38302-0AA5-6AC6-30B6-D0876F6F5AC3}"/>
              </a:ext>
            </a:extLst>
          </p:cNvPr>
          <p:cNvSpPr>
            <a:spLocks noGrp="1"/>
          </p:cNvSpPr>
          <p:nvPr>
            <p:ph type="title"/>
          </p:nvPr>
        </p:nvSpPr>
        <p:spPr>
          <a:xfrm>
            <a:off x="1143000" y="632586"/>
            <a:ext cx="6400800" cy="384721"/>
          </a:xfrm>
        </p:spPr>
        <p:txBody>
          <a:bodyPr/>
          <a:lstStyle/>
          <a:p>
            <a:r>
              <a:rPr lang="en-IN" b="1" dirty="0"/>
              <a:t>NON FUNCTIONAL REQUIREMENTS</a:t>
            </a:r>
            <a:endParaRPr lang="en-IN" dirty="0"/>
          </a:p>
        </p:txBody>
      </p:sp>
      <p:sp>
        <p:nvSpPr>
          <p:cNvPr id="3" name="Text Placeholder 2">
            <a:extLst>
              <a:ext uri="{FF2B5EF4-FFF2-40B4-BE49-F238E27FC236}">
                <a16:creationId xmlns:a16="http://schemas.microsoft.com/office/drawing/2014/main" id="{813C8E53-5F5D-D47E-2895-EAA6A8A76F9E}"/>
              </a:ext>
            </a:extLst>
          </p:cNvPr>
          <p:cNvSpPr>
            <a:spLocks noGrp="1"/>
          </p:cNvSpPr>
          <p:nvPr>
            <p:ph type="body" idx="1"/>
          </p:nvPr>
        </p:nvSpPr>
        <p:spPr>
          <a:xfrm>
            <a:off x="535940" y="1402026"/>
            <a:ext cx="8073390" cy="3046988"/>
          </a:xfrm>
        </p:spPr>
        <p:txBody>
          <a:bodyPr/>
          <a:lstStyle/>
          <a:p>
            <a:r>
              <a:rPr lang="en-US" b="1" dirty="0"/>
              <a:t>1. Performance Requirements: </a:t>
            </a:r>
          </a:p>
          <a:p>
            <a:r>
              <a:rPr lang="en-US" dirty="0"/>
              <a:t> The necessitate the ability to process and analyze a high volume of Data in real-time with low latency responses to ensure timely and effective fraud detection.</a:t>
            </a:r>
          </a:p>
          <a:p>
            <a:r>
              <a:rPr lang="en-US" dirty="0"/>
              <a:t> </a:t>
            </a:r>
          </a:p>
          <a:p>
            <a:r>
              <a:rPr lang="en-US" b="1" dirty="0"/>
              <a:t>2. Safety Requirements : </a:t>
            </a:r>
          </a:p>
          <a:p>
            <a:r>
              <a:rPr lang="en-US" dirty="0"/>
              <a:t>The system should not present any safety hazards to users.</a:t>
            </a:r>
          </a:p>
          <a:p>
            <a:endParaRPr lang="en-US" dirty="0"/>
          </a:p>
          <a:p>
            <a:r>
              <a:rPr lang="en-US" b="1" dirty="0"/>
              <a:t>3. Security Requirements  : </a:t>
            </a:r>
          </a:p>
          <a:p>
            <a:r>
              <a:rPr lang="en-US" dirty="0"/>
              <a:t>The security requirements are encompass robust encryption, access controls, secure data storage, and stringent authentication measures to safeguard sensitive data and protect against cyberattacks.</a:t>
            </a:r>
            <a:endParaRPr lang="en-IN" dirty="0"/>
          </a:p>
        </p:txBody>
      </p:sp>
    </p:spTree>
    <p:extLst>
      <p:ext uri="{BB962C8B-B14F-4D97-AF65-F5344CB8AC3E}">
        <p14:creationId xmlns:p14="http://schemas.microsoft.com/office/powerpoint/2010/main" val="125009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B7160-9497-97DB-ECDF-F5F212F49881}"/>
              </a:ext>
            </a:extLst>
          </p:cNvPr>
          <p:cNvSpPr>
            <a:spLocks noGrp="1"/>
          </p:cNvSpPr>
          <p:nvPr>
            <p:ph type="title"/>
          </p:nvPr>
        </p:nvSpPr>
        <p:spPr>
          <a:xfrm>
            <a:off x="3458337" y="632586"/>
            <a:ext cx="2227325" cy="384721"/>
          </a:xfrm>
        </p:spPr>
        <p:txBody>
          <a:bodyPr/>
          <a:lstStyle/>
          <a:p>
            <a:r>
              <a:rPr lang="en-IN" b="1" dirty="0"/>
              <a:t>Architecture</a:t>
            </a:r>
          </a:p>
        </p:txBody>
      </p:sp>
      <p:sp>
        <p:nvSpPr>
          <p:cNvPr id="3" name="Text Placeholder 2">
            <a:extLst>
              <a:ext uri="{FF2B5EF4-FFF2-40B4-BE49-F238E27FC236}">
                <a16:creationId xmlns:a16="http://schemas.microsoft.com/office/drawing/2014/main" id="{26AAAC18-F796-EFCE-DFF2-A344BEC30CAD}"/>
              </a:ext>
            </a:extLst>
          </p:cNvPr>
          <p:cNvSpPr>
            <a:spLocks noGrp="1"/>
          </p:cNvSpPr>
          <p:nvPr>
            <p:ph type="body" idx="1"/>
          </p:nvPr>
        </p:nvSpPr>
        <p:spPr>
          <a:xfrm>
            <a:off x="684528" y="1905000"/>
            <a:ext cx="7924801" cy="3842656"/>
          </a:xfrm>
        </p:spPr>
        <p:txBody>
          <a:bodyPr/>
          <a:lstStyle/>
          <a:p>
            <a:endParaRPr lang="en-IN" dirty="0"/>
          </a:p>
        </p:txBody>
      </p:sp>
      <p:pic>
        <p:nvPicPr>
          <p:cNvPr id="5" name="Picture 4">
            <a:extLst>
              <a:ext uri="{FF2B5EF4-FFF2-40B4-BE49-F238E27FC236}">
                <a16:creationId xmlns:a16="http://schemas.microsoft.com/office/drawing/2014/main" id="{D302C7CE-33DC-6B93-5344-FF56EA55CB6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3918" y="1600200"/>
            <a:ext cx="8153400" cy="4267200"/>
          </a:xfrm>
          <a:prstGeom prst="rect">
            <a:avLst/>
          </a:prstGeom>
          <a:noFill/>
          <a:ln>
            <a:noFill/>
          </a:ln>
        </p:spPr>
      </p:pic>
      <p:cxnSp>
        <p:nvCxnSpPr>
          <p:cNvPr id="10" name="Connector: Elbow 9">
            <a:extLst>
              <a:ext uri="{FF2B5EF4-FFF2-40B4-BE49-F238E27FC236}">
                <a16:creationId xmlns:a16="http://schemas.microsoft.com/office/drawing/2014/main" id="{7D9BE72E-28A1-AA64-B243-766FDD2AC9FC}"/>
              </a:ext>
            </a:extLst>
          </p:cNvPr>
          <p:cNvCxnSpPr>
            <a:cxnSpLocks/>
          </p:cNvCxnSpPr>
          <p:nvPr/>
        </p:nvCxnSpPr>
        <p:spPr>
          <a:xfrm rot="16200000" flipH="1">
            <a:off x="7144424" y="2801024"/>
            <a:ext cx="874952" cy="6858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F17EDC3-DBBC-3673-F085-E935FE9C0C79}"/>
              </a:ext>
            </a:extLst>
          </p:cNvPr>
          <p:cNvCxnSpPr/>
          <p:nvPr/>
        </p:nvCxnSpPr>
        <p:spPr>
          <a:xfrm>
            <a:off x="7924800" y="3149003"/>
            <a:ext cx="457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003B16-F1FB-695F-CAFD-63853C65ED37}"/>
              </a:ext>
            </a:extLst>
          </p:cNvPr>
          <p:cNvCxnSpPr>
            <a:cxnSpLocks/>
          </p:cNvCxnSpPr>
          <p:nvPr/>
        </p:nvCxnSpPr>
        <p:spPr>
          <a:xfrm>
            <a:off x="8376920" y="2662903"/>
            <a:ext cx="0" cy="493953"/>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0EC01D6-7D1A-439F-491D-E2DF7904D113}"/>
              </a:ext>
            </a:extLst>
          </p:cNvPr>
          <p:cNvSpPr txBox="1"/>
          <p:nvPr/>
        </p:nvSpPr>
        <p:spPr>
          <a:xfrm>
            <a:off x="6832024" y="2378210"/>
            <a:ext cx="914400" cy="338554"/>
          </a:xfrm>
          <a:prstGeom prst="rect">
            <a:avLst/>
          </a:prstGeom>
          <a:noFill/>
        </p:spPr>
        <p:txBody>
          <a:bodyPr wrap="square" rtlCol="0">
            <a:spAutoFit/>
          </a:bodyPr>
          <a:lstStyle/>
          <a:p>
            <a:r>
              <a:rPr lang="en-IN" sz="1600" dirty="0"/>
              <a:t>Healthy</a:t>
            </a:r>
          </a:p>
        </p:txBody>
      </p:sp>
      <p:sp>
        <p:nvSpPr>
          <p:cNvPr id="21" name="TextBox 20">
            <a:extLst>
              <a:ext uri="{FF2B5EF4-FFF2-40B4-BE49-F238E27FC236}">
                <a16:creationId xmlns:a16="http://schemas.microsoft.com/office/drawing/2014/main" id="{89711C67-2D67-8870-8895-1B5F5F2EFCCD}"/>
              </a:ext>
            </a:extLst>
          </p:cNvPr>
          <p:cNvSpPr txBox="1"/>
          <p:nvPr/>
        </p:nvSpPr>
        <p:spPr>
          <a:xfrm>
            <a:off x="7720677" y="2344887"/>
            <a:ext cx="1473775" cy="338554"/>
          </a:xfrm>
          <a:prstGeom prst="rect">
            <a:avLst/>
          </a:prstGeom>
          <a:noFill/>
        </p:spPr>
        <p:txBody>
          <a:bodyPr wrap="square" rtlCol="0">
            <a:spAutoFit/>
          </a:bodyPr>
          <a:lstStyle/>
          <a:p>
            <a:r>
              <a:rPr lang="en-IN" sz="1600" dirty="0"/>
              <a:t>   Pancreatic </a:t>
            </a:r>
          </a:p>
        </p:txBody>
      </p:sp>
    </p:spTree>
    <p:extLst>
      <p:ext uri="{BB962C8B-B14F-4D97-AF65-F5344CB8AC3E}">
        <p14:creationId xmlns:p14="http://schemas.microsoft.com/office/powerpoint/2010/main" val="285841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A32F4-E7B6-255B-0B4D-15ED6DAAAD0B}"/>
              </a:ext>
            </a:extLst>
          </p:cNvPr>
          <p:cNvSpPr>
            <a:spLocks noGrp="1"/>
          </p:cNvSpPr>
          <p:nvPr>
            <p:ph type="title"/>
          </p:nvPr>
        </p:nvSpPr>
        <p:spPr>
          <a:xfrm>
            <a:off x="3458337" y="632586"/>
            <a:ext cx="2866263" cy="430887"/>
          </a:xfrm>
        </p:spPr>
        <p:txBody>
          <a:bodyPr/>
          <a:lstStyle/>
          <a:p>
            <a:r>
              <a:rPr lang="en-IN" sz="2800" b="1" dirty="0">
                <a:latin typeface="Times New Roman" panose="02020603050405020304" pitchFamily="18" charset="0"/>
                <a:cs typeface="Times New Roman" panose="02020603050405020304" pitchFamily="18" charset="0"/>
              </a:rPr>
              <a:t> System Design</a:t>
            </a:r>
            <a:endParaRPr lang="en-IN" dirty="0"/>
          </a:p>
        </p:txBody>
      </p:sp>
      <p:sp>
        <p:nvSpPr>
          <p:cNvPr id="3" name="Text Placeholder 2">
            <a:extLst>
              <a:ext uri="{FF2B5EF4-FFF2-40B4-BE49-F238E27FC236}">
                <a16:creationId xmlns:a16="http://schemas.microsoft.com/office/drawing/2014/main" id="{4ED21F45-A03A-1910-9E78-DE01BA7FFC59}"/>
              </a:ext>
            </a:extLst>
          </p:cNvPr>
          <p:cNvSpPr>
            <a:spLocks noGrp="1"/>
          </p:cNvSpPr>
          <p:nvPr>
            <p:ph type="body" idx="1"/>
          </p:nvPr>
        </p:nvSpPr>
        <p:spPr>
          <a:xfrm>
            <a:off x="535940" y="1219200"/>
            <a:ext cx="8073390" cy="1107996"/>
          </a:xfrm>
        </p:spPr>
        <p:txBody>
          <a:bodyPr/>
          <a:lstStyle/>
          <a:p>
            <a:r>
              <a:rPr lang="en-IN" sz="1800" b="1" dirty="0">
                <a:latin typeface="Times New Roman" panose="02020603050405020304" pitchFamily="18" charset="0"/>
                <a:cs typeface="Times New Roman" panose="02020603050405020304" pitchFamily="18" charset="0"/>
              </a:rPr>
              <a:t>Use case Diagram:</a:t>
            </a:r>
          </a:p>
          <a:p>
            <a:endParaRPr lang="en-IN"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452C9B0E-5922-3465-26A4-953291505E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1676400"/>
            <a:ext cx="5638800" cy="4038600"/>
          </a:xfrm>
          <a:prstGeom prst="rect">
            <a:avLst/>
          </a:prstGeom>
        </p:spPr>
      </p:pic>
    </p:spTree>
    <p:extLst>
      <p:ext uri="{BB962C8B-B14F-4D97-AF65-F5344CB8AC3E}">
        <p14:creationId xmlns:p14="http://schemas.microsoft.com/office/powerpoint/2010/main" val="3663472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9B7BF-DA55-D50A-7822-AE15C4D97223}"/>
              </a:ext>
            </a:extLst>
          </p:cNvPr>
          <p:cNvSpPr>
            <a:spLocks noGrp="1"/>
          </p:cNvSpPr>
          <p:nvPr>
            <p:ph type="title"/>
          </p:nvPr>
        </p:nvSpPr>
        <p:spPr>
          <a:xfrm flipV="1">
            <a:off x="4495800" y="3200397"/>
            <a:ext cx="1066800" cy="228602"/>
          </a:xfrm>
        </p:spPr>
        <p:txBody>
          <a:bodyPr/>
          <a:lstStyle/>
          <a:p>
            <a:endParaRPr lang="en-IN" dirty="0"/>
          </a:p>
        </p:txBody>
      </p:sp>
      <p:sp>
        <p:nvSpPr>
          <p:cNvPr id="3" name="Text Placeholder 2">
            <a:extLst>
              <a:ext uri="{FF2B5EF4-FFF2-40B4-BE49-F238E27FC236}">
                <a16:creationId xmlns:a16="http://schemas.microsoft.com/office/drawing/2014/main" id="{25C140E7-19D8-17F6-7BF1-60539C69AA73}"/>
              </a:ext>
            </a:extLst>
          </p:cNvPr>
          <p:cNvSpPr>
            <a:spLocks noGrp="1"/>
          </p:cNvSpPr>
          <p:nvPr>
            <p:ph type="body" idx="1"/>
          </p:nvPr>
        </p:nvSpPr>
        <p:spPr>
          <a:xfrm>
            <a:off x="457200" y="838201"/>
            <a:ext cx="8152130" cy="830997"/>
          </a:xfrm>
        </p:spPr>
        <p:txBody>
          <a:bodyPr/>
          <a:lstStyle/>
          <a:p>
            <a:r>
              <a:rPr lang="en-IN" dirty="0"/>
              <a:t>SEQUENCE DIAGRAM</a:t>
            </a:r>
          </a:p>
          <a:p>
            <a:endParaRPr lang="en-IN" dirty="0"/>
          </a:p>
          <a:p>
            <a:endParaRPr lang="en-IN" dirty="0"/>
          </a:p>
        </p:txBody>
      </p:sp>
      <p:pic>
        <p:nvPicPr>
          <p:cNvPr id="5" name="Picture 4">
            <a:extLst>
              <a:ext uri="{FF2B5EF4-FFF2-40B4-BE49-F238E27FC236}">
                <a16:creationId xmlns:a16="http://schemas.microsoft.com/office/drawing/2014/main" id="{0BF3BDF5-407C-5221-AF02-9516F88A40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1" y="1600200"/>
            <a:ext cx="7923529" cy="4497001"/>
          </a:xfrm>
          <a:prstGeom prst="rect">
            <a:avLst/>
          </a:prstGeom>
        </p:spPr>
      </p:pic>
    </p:spTree>
    <p:extLst>
      <p:ext uri="{BB962C8B-B14F-4D97-AF65-F5344CB8AC3E}">
        <p14:creationId xmlns:p14="http://schemas.microsoft.com/office/powerpoint/2010/main" val="401406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4D369-E179-12DD-D914-0DBC25D28C06}"/>
              </a:ext>
            </a:extLst>
          </p:cNvPr>
          <p:cNvSpPr>
            <a:spLocks noGrp="1"/>
          </p:cNvSpPr>
          <p:nvPr>
            <p:ph type="title"/>
          </p:nvPr>
        </p:nvSpPr>
        <p:spPr>
          <a:xfrm>
            <a:off x="3458337" y="2743200"/>
            <a:ext cx="1113663" cy="76200"/>
          </a:xfrm>
        </p:spPr>
        <p:txBody>
          <a:bodyPr/>
          <a:lstStyle/>
          <a:p>
            <a:endParaRPr lang="en-IN" dirty="0"/>
          </a:p>
        </p:txBody>
      </p:sp>
      <p:sp>
        <p:nvSpPr>
          <p:cNvPr id="3" name="Text Placeholder 2">
            <a:extLst>
              <a:ext uri="{FF2B5EF4-FFF2-40B4-BE49-F238E27FC236}">
                <a16:creationId xmlns:a16="http://schemas.microsoft.com/office/drawing/2014/main" id="{0EAF0278-AA60-855D-F673-459CC4A2AD3A}"/>
              </a:ext>
            </a:extLst>
          </p:cNvPr>
          <p:cNvSpPr>
            <a:spLocks noGrp="1"/>
          </p:cNvSpPr>
          <p:nvPr>
            <p:ph type="body" idx="1"/>
          </p:nvPr>
        </p:nvSpPr>
        <p:spPr>
          <a:xfrm>
            <a:off x="535940" y="457200"/>
            <a:ext cx="8073390" cy="830997"/>
          </a:xfrm>
        </p:spPr>
        <p:txBody>
          <a:bodyPr/>
          <a:lstStyle/>
          <a:p>
            <a:r>
              <a:rPr lang="en-IN" dirty="0"/>
              <a:t>CLASS DIAGRAM</a:t>
            </a:r>
          </a:p>
          <a:p>
            <a:endParaRPr lang="en-IN" dirty="0"/>
          </a:p>
          <a:p>
            <a:endParaRPr lang="en-IN" dirty="0"/>
          </a:p>
        </p:txBody>
      </p:sp>
      <p:pic>
        <p:nvPicPr>
          <p:cNvPr id="5" name="Picture 4">
            <a:extLst>
              <a:ext uri="{FF2B5EF4-FFF2-40B4-BE49-F238E27FC236}">
                <a16:creationId xmlns:a16="http://schemas.microsoft.com/office/drawing/2014/main" id="{FC069F89-C418-B640-5184-0D13CFDFDB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1143000"/>
            <a:ext cx="2787793" cy="5112013"/>
          </a:xfrm>
          <a:prstGeom prst="rect">
            <a:avLst/>
          </a:prstGeom>
        </p:spPr>
      </p:pic>
    </p:spTree>
    <p:extLst>
      <p:ext uri="{BB962C8B-B14F-4D97-AF65-F5344CB8AC3E}">
        <p14:creationId xmlns:p14="http://schemas.microsoft.com/office/powerpoint/2010/main" val="3805351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E8C98A0-E53D-80E2-D897-0934DA33C2CF}"/>
              </a:ext>
            </a:extLst>
          </p:cNvPr>
          <p:cNvSpPr>
            <a:spLocks noGrp="1"/>
          </p:cNvSpPr>
          <p:nvPr>
            <p:ph type="body" idx="1"/>
          </p:nvPr>
        </p:nvSpPr>
        <p:spPr>
          <a:xfrm>
            <a:off x="535940" y="1066800"/>
            <a:ext cx="8073390" cy="5632311"/>
          </a:xfrm>
        </p:spPr>
        <p:txBody>
          <a:bodyPr/>
          <a:lstStyle/>
          <a:p>
            <a:r>
              <a:rPr lang="en-IN" sz="2400" dirty="0">
                <a:latin typeface="Times New Roman" panose="02020603050405020304" pitchFamily="18" charset="0"/>
                <a:cs typeface="Times New Roman" panose="02020603050405020304" pitchFamily="18" charset="0"/>
              </a:rPr>
              <a:t>                                         Implementation Code</a:t>
            </a:r>
          </a:p>
          <a:p>
            <a:endParaRPr lang="en-IN" dirty="0"/>
          </a:p>
          <a:p>
            <a:r>
              <a:rPr lang="en-IN" dirty="0"/>
              <a:t>import </a:t>
            </a:r>
            <a:r>
              <a:rPr lang="en-IN" dirty="0" err="1"/>
              <a:t>numpy</a:t>
            </a:r>
            <a:r>
              <a:rPr lang="en-IN" dirty="0"/>
              <a:t> as np </a:t>
            </a:r>
          </a:p>
          <a:p>
            <a:r>
              <a:rPr lang="en-IN" dirty="0"/>
              <a:t>import pandas as pd </a:t>
            </a:r>
          </a:p>
          <a:p>
            <a:r>
              <a:rPr lang="en-IN" dirty="0"/>
              <a:t>from </a:t>
            </a:r>
            <a:r>
              <a:rPr lang="en-IN" dirty="0" err="1"/>
              <a:t>sklearn</a:t>
            </a:r>
            <a:r>
              <a:rPr lang="en-IN" dirty="0"/>
              <a:t> import metrics </a:t>
            </a:r>
          </a:p>
          <a:p>
            <a:r>
              <a:rPr lang="en-IN" dirty="0"/>
              <a:t>import </a:t>
            </a:r>
            <a:r>
              <a:rPr lang="en-IN" dirty="0" err="1"/>
              <a:t>matplotlib.pyplot</a:t>
            </a:r>
            <a:r>
              <a:rPr lang="en-IN" dirty="0"/>
              <a:t> as </a:t>
            </a:r>
            <a:r>
              <a:rPr lang="en-IN" dirty="0" err="1"/>
              <a:t>plt</a:t>
            </a:r>
            <a:endParaRPr lang="en-IN" dirty="0"/>
          </a:p>
          <a:p>
            <a:r>
              <a:rPr lang="en-IN" dirty="0" err="1"/>
              <a:t>df</a:t>
            </a:r>
            <a:r>
              <a:rPr lang="en-IN" dirty="0"/>
              <a:t>=</a:t>
            </a:r>
            <a:r>
              <a:rPr lang="en-IN" dirty="0" err="1"/>
              <a:t>pd.read_csv</a:t>
            </a:r>
            <a:r>
              <a:rPr lang="en-IN" dirty="0"/>
              <a:t>("pradataset.csv")</a:t>
            </a:r>
          </a:p>
          <a:p>
            <a:r>
              <a:rPr lang="en-IN" dirty="0" err="1"/>
              <a:t>df.isnull</a:t>
            </a:r>
            <a:r>
              <a:rPr lang="en-IN" dirty="0"/>
              <a:t>().sum()</a:t>
            </a:r>
          </a:p>
          <a:p>
            <a:r>
              <a:rPr lang="en-IN" dirty="0" err="1"/>
              <a:t>df</a:t>
            </a:r>
            <a:r>
              <a:rPr lang="en-IN" dirty="0"/>
              <a:t>=</a:t>
            </a:r>
            <a:r>
              <a:rPr lang="en-IN" dirty="0" err="1"/>
              <a:t>df.drop</a:t>
            </a:r>
            <a:r>
              <a:rPr lang="en-IN" dirty="0"/>
              <a:t>("</a:t>
            </a:r>
            <a:r>
              <a:rPr lang="en-IN" dirty="0" err="1"/>
              <a:t>sample_id",axis</a:t>
            </a:r>
            <a:r>
              <a:rPr lang="en-IN" dirty="0"/>
              <a:t>=1)</a:t>
            </a:r>
          </a:p>
          <a:p>
            <a:r>
              <a:rPr lang="en-IN" dirty="0" err="1"/>
              <a:t>df</a:t>
            </a:r>
            <a:r>
              <a:rPr lang="en-IN" dirty="0"/>
              <a:t>["</a:t>
            </a:r>
            <a:r>
              <a:rPr lang="en-IN" dirty="0" err="1"/>
              <a:t>patient_cohort</a:t>
            </a:r>
            <a:r>
              <a:rPr lang="en-IN" dirty="0"/>
              <a:t>"].unique()</a:t>
            </a:r>
          </a:p>
          <a:p>
            <a:r>
              <a:rPr lang="en-IN" dirty="0" err="1"/>
              <a:t>df</a:t>
            </a:r>
            <a:r>
              <a:rPr lang="en-IN" dirty="0"/>
              <a:t>["diagnosis"].unique()</a:t>
            </a:r>
          </a:p>
          <a:p>
            <a:r>
              <a:rPr lang="en-IN" dirty="0"/>
              <a:t>from </a:t>
            </a:r>
            <a:r>
              <a:rPr lang="en-IN" dirty="0" err="1"/>
              <a:t>sklearn</a:t>
            </a:r>
            <a:r>
              <a:rPr lang="en-IN" dirty="0"/>
              <a:t> import preprocessing</a:t>
            </a:r>
          </a:p>
          <a:p>
            <a:r>
              <a:rPr lang="en-IN" dirty="0" err="1"/>
              <a:t>label_encoder</a:t>
            </a:r>
            <a:r>
              <a:rPr lang="en-IN" dirty="0"/>
              <a:t> = </a:t>
            </a:r>
            <a:r>
              <a:rPr lang="en-IN" dirty="0" err="1"/>
              <a:t>preprocessing.LabelEncoder</a:t>
            </a:r>
            <a:r>
              <a:rPr lang="en-IN" dirty="0"/>
              <a:t>()</a:t>
            </a:r>
          </a:p>
          <a:p>
            <a:r>
              <a:rPr lang="en-IN" dirty="0" err="1"/>
              <a:t>df</a:t>
            </a:r>
            <a:r>
              <a:rPr lang="en-IN" dirty="0"/>
              <a:t>['</a:t>
            </a:r>
            <a:r>
              <a:rPr lang="en-IN" dirty="0" err="1"/>
              <a:t>patient_cohort</a:t>
            </a:r>
            <a:r>
              <a:rPr lang="en-IN" dirty="0"/>
              <a:t>']= </a:t>
            </a:r>
            <a:r>
              <a:rPr lang="en-IN" dirty="0" err="1"/>
              <a:t>label_encoder.fit_transform</a:t>
            </a:r>
            <a:r>
              <a:rPr lang="en-IN" dirty="0"/>
              <a:t>(</a:t>
            </a:r>
            <a:r>
              <a:rPr lang="en-IN" dirty="0" err="1"/>
              <a:t>df</a:t>
            </a:r>
            <a:r>
              <a:rPr lang="en-IN" dirty="0"/>
              <a:t>['</a:t>
            </a:r>
            <a:r>
              <a:rPr lang="en-IN" dirty="0" err="1"/>
              <a:t>patient_cohort</a:t>
            </a:r>
            <a:r>
              <a:rPr lang="en-IN" dirty="0"/>
              <a:t>'])</a:t>
            </a:r>
          </a:p>
          <a:p>
            <a:r>
              <a:rPr lang="en-IN" dirty="0" err="1"/>
              <a:t>df</a:t>
            </a:r>
            <a:r>
              <a:rPr lang="en-IN" dirty="0"/>
              <a:t>['</a:t>
            </a:r>
            <a:r>
              <a:rPr lang="en-IN" dirty="0" err="1"/>
              <a:t>patient_cohort</a:t>
            </a:r>
            <a:r>
              <a:rPr lang="en-IN" dirty="0"/>
              <a:t>']=</a:t>
            </a:r>
            <a:r>
              <a:rPr lang="en-IN" dirty="0" err="1"/>
              <a:t>df</a:t>
            </a:r>
            <a:r>
              <a:rPr lang="en-IN" dirty="0"/>
              <a:t>['</a:t>
            </a:r>
            <a:r>
              <a:rPr lang="en-IN" dirty="0" err="1"/>
              <a:t>patient_cohort</a:t>
            </a:r>
            <a:r>
              <a:rPr lang="en-IN" dirty="0"/>
              <a:t>'].</a:t>
            </a:r>
            <a:r>
              <a:rPr lang="en-IN" dirty="0" err="1"/>
              <a:t>astype</a:t>
            </a:r>
            <a:r>
              <a:rPr lang="en-IN" dirty="0"/>
              <a:t>(int)</a:t>
            </a:r>
          </a:p>
          <a:p>
            <a:r>
              <a:rPr lang="en-IN" dirty="0" err="1"/>
              <a:t>df</a:t>
            </a:r>
            <a:r>
              <a:rPr lang="en-IN" dirty="0"/>
              <a:t>['</a:t>
            </a:r>
            <a:r>
              <a:rPr lang="en-IN" dirty="0" err="1"/>
              <a:t>patient_cohort</a:t>
            </a:r>
            <a:r>
              <a:rPr lang="en-IN" dirty="0"/>
              <a:t>']=</a:t>
            </a:r>
            <a:r>
              <a:rPr lang="en-IN" dirty="0" err="1"/>
              <a:t>df</a:t>
            </a:r>
            <a:r>
              <a:rPr lang="en-IN" dirty="0"/>
              <a:t>['</a:t>
            </a:r>
            <a:r>
              <a:rPr lang="en-IN" dirty="0" err="1"/>
              <a:t>patient_cohort</a:t>
            </a:r>
            <a:r>
              <a:rPr lang="en-IN" dirty="0"/>
              <a:t>'].</a:t>
            </a:r>
            <a:r>
              <a:rPr lang="en-IN" dirty="0" err="1"/>
              <a:t>astype</a:t>
            </a:r>
            <a:r>
              <a:rPr lang="en-IN" dirty="0"/>
              <a:t>(int)</a:t>
            </a:r>
          </a:p>
          <a:p>
            <a:r>
              <a:rPr lang="en-IN" dirty="0" err="1"/>
              <a:t>df</a:t>
            </a:r>
            <a:r>
              <a:rPr lang="en-IN" dirty="0"/>
              <a:t>['</a:t>
            </a:r>
            <a:r>
              <a:rPr lang="en-IN" dirty="0" err="1"/>
              <a:t>sample_origin</a:t>
            </a:r>
            <a:r>
              <a:rPr lang="en-IN" dirty="0"/>
              <a:t>']= </a:t>
            </a:r>
            <a:r>
              <a:rPr lang="en-IN" dirty="0" err="1"/>
              <a:t>label_encoder.fit_transform</a:t>
            </a:r>
            <a:r>
              <a:rPr lang="en-IN" dirty="0"/>
              <a:t>(</a:t>
            </a:r>
            <a:r>
              <a:rPr lang="en-IN" dirty="0" err="1"/>
              <a:t>df</a:t>
            </a:r>
            <a:r>
              <a:rPr lang="en-IN" dirty="0"/>
              <a:t>['</a:t>
            </a:r>
            <a:r>
              <a:rPr lang="en-IN" dirty="0" err="1"/>
              <a:t>sample_origin</a:t>
            </a:r>
            <a:r>
              <a:rPr lang="en-IN" dirty="0"/>
              <a:t>'])</a:t>
            </a:r>
          </a:p>
          <a:p>
            <a:r>
              <a:rPr lang="en-IN" dirty="0" err="1"/>
              <a:t>df</a:t>
            </a:r>
            <a:r>
              <a:rPr lang="en-IN" dirty="0"/>
              <a:t>['</a:t>
            </a:r>
            <a:r>
              <a:rPr lang="en-IN" dirty="0" err="1"/>
              <a:t>sample_origin</a:t>
            </a:r>
            <a:r>
              <a:rPr lang="en-IN" dirty="0"/>
              <a:t>']=</a:t>
            </a:r>
            <a:r>
              <a:rPr lang="en-IN" dirty="0" err="1"/>
              <a:t>df</a:t>
            </a:r>
            <a:r>
              <a:rPr lang="en-IN" dirty="0"/>
              <a:t>['</a:t>
            </a:r>
            <a:r>
              <a:rPr lang="en-IN" dirty="0" err="1"/>
              <a:t>sample_origin</a:t>
            </a:r>
            <a:r>
              <a:rPr lang="en-IN" dirty="0"/>
              <a:t>'].</a:t>
            </a:r>
            <a:r>
              <a:rPr lang="en-IN" dirty="0" err="1"/>
              <a:t>astype</a:t>
            </a:r>
            <a:r>
              <a:rPr lang="en-IN" dirty="0"/>
              <a:t>(int)</a:t>
            </a:r>
          </a:p>
          <a:p>
            <a:r>
              <a:rPr lang="en-IN" dirty="0" err="1"/>
              <a:t>df</a:t>
            </a:r>
            <a:r>
              <a:rPr lang="en-IN" dirty="0"/>
              <a:t>['sex']= </a:t>
            </a:r>
            <a:r>
              <a:rPr lang="en-IN" dirty="0" err="1"/>
              <a:t>label_encoder.fit_transform</a:t>
            </a:r>
            <a:r>
              <a:rPr lang="en-IN" dirty="0"/>
              <a:t>(</a:t>
            </a:r>
            <a:r>
              <a:rPr lang="en-IN" dirty="0" err="1"/>
              <a:t>df</a:t>
            </a:r>
            <a:r>
              <a:rPr lang="en-IN" dirty="0"/>
              <a:t>['sex'])</a:t>
            </a:r>
          </a:p>
          <a:p>
            <a:endParaRPr lang="en-IN" dirty="0"/>
          </a:p>
        </p:txBody>
      </p:sp>
    </p:spTree>
    <p:extLst>
      <p:ext uri="{BB962C8B-B14F-4D97-AF65-F5344CB8AC3E}">
        <p14:creationId xmlns:p14="http://schemas.microsoft.com/office/powerpoint/2010/main" val="2876083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DD78699-504A-0DD5-0912-3709A7D45B3B}"/>
              </a:ext>
            </a:extLst>
          </p:cNvPr>
          <p:cNvSpPr>
            <a:spLocks noGrp="1"/>
          </p:cNvSpPr>
          <p:nvPr>
            <p:ph type="body" idx="1"/>
          </p:nvPr>
        </p:nvSpPr>
        <p:spPr>
          <a:xfrm>
            <a:off x="609600" y="1219200"/>
            <a:ext cx="8073390" cy="4985980"/>
          </a:xfrm>
        </p:spPr>
        <p:txBody>
          <a:bodyPr/>
          <a:lstStyle/>
          <a:p>
            <a:r>
              <a:rPr lang="en-IN" dirty="0" err="1"/>
              <a:t>df</a:t>
            </a:r>
            <a:r>
              <a:rPr lang="en-IN" dirty="0"/>
              <a:t>['sex']=</a:t>
            </a:r>
            <a:r>
              <a:rPr lang="en-IN" dirty="0" err="1"/>
              <a:t>df</a:t>
            </a:r>
            <a:r>
              <a:rPr lang="en-IN" dirty="0"/>
              <a:t>['sex'].</a:t>
            </a:r>
            <a:r>
              <a:rPr lang="en-IN" dirty="0" err="1"/>
              <a:t>astype</a:t>
            </a:r>
            <a:r>
              <a:rPr lang="en-IN" dirty="0"/>
              <a:t>(int)</a:t>
            </a:r>
          </a:p>
          <a:p>
            <a:r>
              <a:rPr lang="en-IN" dirty="0" err="1"/>
              <a:t>df</a:t>
            </a:r>
            <a:r>
              <a:rPr lang="en-IN" dirty="0"/>
              <a:t>['diagnosis'].unique()</a:t>
            </a:r>
          </a:p>
          <a:p>
            <a:r>
              <a:rPr lang="en-IN" dirty="0" err="1"/>
              <a:t>df</a:t>
            </a:r>
            <a:r>
              <a:rPr lang="en-IN" dirty="0"/>
              <a:t>['stage']=</a:t>
            </a:r>
            <a:r>
              <a:rPr lang="en-IN" dirty="0" err="1"/>
              <a:t>df</a:t>
            </a:r>
            <a:r>
              <a:rPr lang="en-IN" dirty="0"/>
              <a:t>['stage'].</a:t>
            </a:r>
            <a:r>
              <a:rPr lang="en-IN" dirty="0" err="1"/>
              <a:t>fillna</a:t>
            </a:r>
            <a:r>
              <a:rPr lang="en-IN" dirty="0"/>
              <a:t>('0')</a:t>
            </a:r>
          </a:p>
          <a:p>
            <a:r>
              <a:rPr lang="en-IN" dirty="0" err="1"/>
              <a:t>df</a:t>
            </a:r>
            <a:r>
              <a:rPr lang="en-IN" dirty="0"/>
              <a:t>['stage'].unique()</a:t>
            </a:r>
          </a:p>
          <a:p>
            <a:r>
              <a:rPr lang="en-IN" dirty="0" err="1"/>
              <a:t>df</a:t>
            </a:r>
            <a:r>
              <a:rPr lang="en-IN" dirty="0"/>
              <a:t>['stage']= </a:t>
            </a:r>
            <a:r>
              <a:rPr lang="en-IN" dirty="0" err="1"/>
              <a:t>label_encoder.fit_transform</a:t>
            </a:r>
            <a:r>
              <a:rPr lang="en-IN" dirty="0"/>
              <a:t>(</a:t>
            </a:r>
            <a:r>
              <a:rPr lang="en-IN" dirty="0" err="1"/>
              <a:t>df</a:t>
            </a:r>
            <a:r>
              <a:rPr lang="en-IN" dirty="0"/>
              <a:t>['stage’])</a:t>
            </a:r>
          </a:p>
          <a:p>
            <a:r>
              <a:rPr lang="en-IN" dirty="0" err="1"/>
              <a:t>df</a:t>
            </a:r>
            <a:r>
              <a:rPr lang="en-IN" dirty="0"/>
              <a:t>['stage']=</a:t>
            </a:r>
            <a:r>
              <a:rPr lang="en-IN" dirty="0" err="1"/>
              <a:t>df</a:t>
            </a:r>
            <a:r>
              <a:rPr lang="en-IN" dirty="0"/>
              <a:t>['stage'].</a:t>
            </a:r>
            <a:r>
              <a:rPr lang="en-IN" dirty="0" err="1"/>
              <a:t>astype</a:t>
            </a:r>
            <a:r>
              <a:rPr lang="en-IN" dirty="0"/>
              <a:t>(int)</a:t>
            </a:r>
          </a:p>
          <a:p>
            <a:r>
              <a:rPr lang="en-IN" dirty="0" err="1"/>
              <a:t>df</a:t>
            </a:r>
            <a:r>
              <a:rPr lang="en-IN" dirty="0"/>
              <a:t>['</a:t>
            </a:r>
            <a:r>
              <a:rPr lang="en-IN" dirty="0" err="1"/>
              <a:t>benign_sample_diagnosis</a:t>
            </a:r>
            <a:r>
              <a:rPr lang="en-IN" dirty="0"/>
              <a:t>'].unique()</a:t>
            </a:r>
          </a:p>
          <a:p>
            <a:r>
              <a:rPr lang="en-IN" dirty="0" err="1"/>
              <a:t>df</a:t>
            </a:r>
            <a:r>
              <a:rPr lang="en-IN" dirty="0"/>
              <a:t>['</a:t>
            </a:r>
            <a:r>
              <a:rPr lang="en-IN" dirty="0" err="1"/>
              <a:t>benign_sample_diagnosis</a:t>
            </a:r>
            <a:r>
              <a:rPr lang="en-IN" dirty="0"/>
              <a:t>']=</a:t>
            </a:r>
            <a:r>
              <a:rPr lang="en-IN" dirty="0" err="1"/>
              <a:t>df</a:t>
            </a:r>
            <a:r>
              <a:rPr lang="en-IN" dirty="0"/>
              <a:t>['</a:t>
            </a:r>
            <a:r>
              <a:rPr lang="en-IN" dirty="0" err="1"/>
              <a:t>benign_sample_diagnosis</a:t>
            </a:r>
            <a:r>
              <a:rPr lang="en-IN" dirty="0"/>
              <a:t>'].</a:t>
            </a:r>
            <a:r>
              <a:rPr lang="en-IN" dirty="0" err="1"/>
              <a:t>fillna</a:t>
            </a:r>
            <a:r>
              <a:rPr lang="en-IN" dirty="0"/>
              <a:t>("null")</a:t>
            </a:r>
          </a:p>
          <a:p>
            <a:r>
              <a:rPr lang="en-IN" dirty="0" err="1"/>
              <a:t>df</a:t>
            </a:r>
            <a:r>
              <a:rPr lang="en-IN" dirty="0"/>
              <a:t>['plasma_CA19_9']=</a:t>
            </a:r>
            <a:r>
              <a:rPr lang="en-IN" dirty="0" err="1"/>
              <a:t>df</a:t>
            </a:r>
            <a:r>
              <a:rPr lang="en-IN" dirty="0"/>
              <a:t>['plasma_CA19_9'].</a:t>
            </a:r>
            <a:r>
              <a:rPr lang="en-IN" dirty="0" err="1"/>
              <a:t>fillna</a:t>
            </a:r>
            <a:r>
              <a:rPr lang="en-IN" dirty="0"/>
              <a:t>(</a:t>
            </a:r>
            <a:r>
              <a:rPr lang="en-IN" dirty="0" err="1"/>
              <a:t>df</a:t>
            </a:r>
            <a:r>
              <a:rPr lang="en-IN" dirty="0"/>
              <a:t>['plasma_CA19_9'].mean())</a:t>
            </a:r>
          </a:p>
          <a:p>
            <a:r>
              <a:rPr lang="en-IN" dirty="0" err="1"/>
              <a:t>df</a:t>
            </a:r>
            <a:r>
              <a:rPr lang="en-IN" dirty="0"/>
              <a:t>['REG1A']=</a:t>
            </a:r>
            <a:r>
              <a:rPr lang="en-IN" dirty="0" err="1"/>
              <a:t>df</a:t>
            </a:r>
            <a:r>
              <a:rPr lang="en-IN" dirty="0"/>
              <a:t>['REG1A'].</a:t>
            </a:r>
            <a:r>
              <a:rPr lang="en-IN" dirty="0" err="1"/>
              <a:t>fillna</a:t>
            </a:r>
            <a:r>
              <a:rPr lang="en-IN" dirty="0"/>
              <a:t>(</a:t>
            </a:r>
            <a:r>
              <a:rPr lang="en-IN" dirty="0" err="1"/>
              <a:t>df</a:t>
            </a:r>
            <a:r>
              <a:rPr lang="en-IN" dirty="0"/>
              <a:t>['REG1A'].mean())</a:t>
            </a:r>
          </a:p>
          <a:p>
            <a:r>
              <a:rPr lang="en-IN" dirty="0" err="1"/>
              <a:t>df</a:t>
            </a:r>
            <a:r>
              <a:rPr lang="en-IN" dirty="0"/>
              <a:t>=</a:t>
            </a:r>
            <a:r>
              <a:rPr lang="en-IN" dirty="0" err="1"/>
              <a:t>df.drop</a:t>
            </a:r>
            <a:r>
              <a:rPr lang="en-IN" dirty="0"/>
              <a:t>("</a:t>
            </a:r>
            <a:r>
              <a:rPr lang="en-IN" dirty="0" err="1"/>
              <a:t>benign_sample_diagnosis",axis</a:t>
            </a:r>
            <a:r>
              <a:rPr lang="en-IN" dirty="0"/>
              <a:t>=1)</a:t>
            </a:r>
          </a:p>
          <a:p>
            <a:r>
              <a:rPr lang="en-IN" dirty="0"/>
              <a:t>X=</a:t>
            </a:r>
            <a:r>
              <a:rPr lang="en-IN" dirty="0" err="1"/>
              <a:t>df.drop</a:t>
            </a:r>
            <a:r>
              <a:rPr lang="en-IN" dirty="0"/>
              <a:t>("</a:t>
            </a:r>
            <a:r>
              <a:rPr lang="en-IN" dirty="0" err="1"/>
              <a:t>diagnosis",axis</a:t>
            </a:r>
            <a:r>
              <a:rPr lang="en-IN" dirty="0"/>
              <a:t>=1)</a:t>
            </a:r>
          </a:p>
          <a:p>
            <a:r>
              <a:rPr lang="en-IN" dirty="0"/>
              <a:t>y=</a:t>
            </a:r>
            <a:r>
              <a:rPr lang="en-IN" dirty="0" err="1"/>
              <a:t>df</a:t>
            </a:r>
            <a:r>
              <a:rPr lang="en-IN" dirty="0"/>
              <a:t>['diagnosis']</a:t>
            </a:r>
          </a:p>
          <a:p>
            <a:r>
              <a:rPr lang="en-IN" dirty="0"/>
              <a:t># Build a </a:t>
            </a:r>
            <a:r>
              <a:rPr lang="en-IN" dirty="0" err="1"/>
              <a:t>Dataframe</a:t>
            </a:r>
            <a:r>
              <a:rPr lang="en-IN" dirty="0"/>
              <a:t> with Correlation between Features</a:t>
            </a:r>
          </a:p>
          <a:p>
            <a:r>
              <a:rPr lang="en-IN" dirty="0" err="1"/>
              <a:t>corr_matrix</a:t>
            </a:r>
            <a:r>
              <a:rPr lang="en-IN" dirty="0"/>
              <a:t> = </a:t>
            </a:r>
            <a:r>
              <a:rPr lang="en-IN" dirty="0" err="1"/>
              <a:t>X.corr</a:t>
            </a:r>
            <a:r>
              <a:rPr lang="en-IN" dirty="0"/>
              <a:t>()</a:t>
            </a:r>
          </a:p>
          <a:p>
            <a:r>
              <a:rPr lang="en-IN" dirty="0"/>
              <a:t># Take absolute values of correlated coefficients</a:t>
            </a:r>
          </a:p>
          <a:p>
            <a:r>
              <a:rPr lang="en-IN" dirty="0" err="1"/>
              <a:t>corr_matrix</a:t>
            </a:r>
            <a:r>
              <a:rPr lang="en-IN" dirty="0"/>
              <a:t> = </a:t>
            </a:r>
            <a:r>
              <a:rPr lang="en-IN" dirty="0" err="1"/>
              <a:t>corr_matrix.abs</a:t>
            </a:r>
            <a:r>
              <a:rPr lang="en-IN" dirty="0"/>
              <a:t>().unstack()</a:t>
            </a:r>
          </a:p>
          <a:p>
            <a:r>
              <a:rPr lang="en-IN" dirty="0" err="1"/>
              <a:t>corr_matrix</a:t>
            </a:r>
            <a:r>
              <a:rPr lang="en-IN" dirty="0"/>
              <a:t> = </a:t>
            </a:r>
            <a:r>
              <a:rPr lang="en-IN" dirty="0" err="1"/>
              <a:t>corr_matrix.sort_values</a:t>
            </a:r>
            <a:r>
              <a:rPr lang="en-IN" dirty="0"/>
              <a:t>(ascending=False)</a:t>
            </a:r>
          </a:p>
        </p:txBody>
      </p:sp>
    </p:spTree>
    <p:extLst>
      <p:ext uri="{BB962C8B-B14F-4D97-AF65-F5344CB8AC3E}">
        <p14:creationId xmlns:p14="http://schemas.microsoft.com/office/powerpoint/2010/main" val="4208430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5DF6B66-683E-514E-F578-AF322BA46C52}"/>
              </a:ext>
            </a:extLst>
          </p:cNvPr>
          <p:cNvSpPr>
            <a:spLocks noGrp="1"/>
          </p:cNvSpPr>
          <p:nvPr>
            <p:ph type="body" idx="1"/>
          </p:nvPr>
        </p:nvSpPr>
        <p:spPr>
          <a:xfrm>
            <a:off x="535940" y="1219200"/>
            <a:ext cx="8073390" cy="5105400"/>
          </a:xfrm>
        </p:spPr>
        <p:txBody>
          <a:bodyPr/>
          <a:lstStyle/>
          <a:p>
            <a:r>
              <a:rPr lang="en-IN" dirty="0" err="1"/>
              <a:t>corr_matrix</a:t>
            </a:r>
            <a:r>
              <a:rPr lang="en-IN" dirty="0"/>
              <a:t> = </a:t>
            </a:r>
            <a:r>
              <a:rPr lang="en-IN" dirty="0" err="1"/>
              <a:t>corr_matrix</a:t>
            </a:r>
            <a:r>
              <a:rPr lang="en-IN" dirty="0"/>
              <a:t>[</a:t>
            </a:r>
            <a:r>
              <a:rPr lang="en-IN" dirty="0" err="1"/>
              <a:t>corr_matrix</a:t>
            </a:r>
            <a:r>
              <a:rPr lang="en-IN" dirty="0"/>
              <a:t> &gt;= 0.8]</a:t>
            </a:r>
          </a:p>
          <a:p>
            <a:r>
              <a:rPr lang="en-IN" dirty="0" err="1"/>
              <a:t>corr_matrix</a:t>
            </a:r>
            <a:r>
              <a:rPr lang="en-IN" dirty="0"/>
              <a:t> = </a:t>
            </a:r>
            <a:r>
              <a:rPr lang="en-IN" dirty="0" err="1"/>
              <a:t>corr_matrix</a:t>
            </a:r>
            <a:r>
              <a:rPr lang="en-IN" dirty="0"/>
              <a:t>[</a:t>
            </a:r>
            <a:r>
              <a:rPr lang="en-IN" dirty="0" err="1"/>
              <a:t>corr_matrix</a:t>
            </a:r>
            <a:r>
              <a:rPr lang="en-IN" dirty="0"/>
              <a:t> &lt; 1]</a:t>
            </a:r>
          </a:p>
          <a:p>
            <a:r>
              <a:rPr lang="en-IN" dirty="0" err="1"/>
              <a:t>corr_matrix</a:t>
            </a:r>
            <a:r>
              <a:rPr lang="en-IN" dirty="0"/>
              <a:t> = </a:t>
            </a:r>
            <a:r>
              <a:rPr lang="en-IN" dirty="0" err="1"/>
              <a:t>pd.DataFrame</a:t>
            </a:r>
            <a:r>
              <a:rPr lang="en-IN" dirty="0"/>
              <a:t>(</a:t>
            </a:r>
            <a:r>
              <a:rPr lang="en-IN" dirty="0" err="1"/>
              <a:t>corr_matrix</a:t>
            </a:r>
            <a:r>
              <a:rPr lang="en-IN" dirty="0"/>
              <a:t>).</a:t>
            </a:r>
            <a:r>
              <a:rPr lang="en-IN" dirty="0" err="1"/>
              <a:t>reset_index</a:t>
            </a:r>
            <a:r>
              <a:rPr lang="en-IN" dirty="0"/>
              <a:t>()</a:t>
            </a:r>
          </a:p>
          <a:p>
            <a:r>
              <a:rPr lang="en-IN" dirty="0" err="1"/>
              <a:t>corr_matrix.columns</a:t>
            </a:r>
            <a:r>
              <a:rPr lang="en-IN" dirty="0"/>
              <a:t> = ['feature1', 'feature2', 'Correlation']</a:t>
            </a:r>
          </a:p>
          <a:p>
            <a:r>
              <a:rPr lang="en-IN" dirty="0" err="1"/>
              <a:t>corr_matrix.head</a:t>
            </a:r>
            <a:r>
              <a:rPr lang="en-IN" dirty="0"/>
              <a:t>()</a:t>
            </a:r>
          </a:p>
          <a:p>
            <a:r>
              <a:rPr lang="en-IN" dirty="0"/>
              <a:t># Import label encoder</a:t>
            </a:r>
          </a:p>
          <a:p>
            <a:r>
              <a:rPr lang="en-IN" dirty="0"/>
              <a:t>from </a:t>
            </a:r>
            <a:r>
              <a:rPr lang="en-IN" dirty="0" err="1"/>
              <a:t>sklearn</a:t>
            </a:r>
            <a:r>
              <a:rPr lang="en-IN" dirty="0"/>
              <a:t> import preprocessing</a:t>
            </a:r>
          </a:p>
          <a:p>
            <a:r>
              <a:rPr lang="en-IN" dirty="0"/>
              <a:t># </a:t>
            </a:r>
            <a:r>
              <a:rPr lang="en-IN" dirty="0" err="1"/>
              <a:t>label_encoder</a:t>
            </a:r>
            <a:r>
              <a:rPr lang="en-IN" dirty="0"/>
              <a:t> object knows how to understand word labels.</a:t>
            </a:r>
          </a:p>
          <a:p>
            <a:r>
              <a:rPr lang="en-IN" dirty="0" err="1"/>
              <a:t>label_encoder</a:t>
            </a:r>
            <a:r>
              <a:rPr lang="en-IN" dirty="0"/>
              <a:t> = </a:t>
            </a:r>
            <a:r>
              <a:rPr lang="en-IN" dirty="0" err="1"/>
              <a:t>preprocessing.LabelEncoder</a:t>
            </a:r>
            <a:r>
              <a:rPr lang="en-IN" dirty="0"/>
              <a:t>()</a:t>
            </a:r>
          </a:p>
          <a:p>
            <a:r>
              <a:rPr lang="en-IN" dirty="0"/>
              <a:t>y= </a:t>
            </a:r>
            <a:r>
              <a:rPr lang="en-IN" dirty="0" err="1"/>
              <a:t>label_encoder.fit_transform</a:t>
            </a:r>
            <a:r>
              <a:rPr lang="en-IN" dirty="0"/>
              <a:t>(y)</a:t>
            </a:r>
          </a:p>
          <a:p>
            <a:r>
              <a:rPr lang="en-IN" dirty="0"/>
              <a:t>from </a:t>
            </a:r>
            <a:r>
              <a:rPr lang="en-IN" dirty="0" err="1"/>
              <a:t>sklearn.model_selection</a:t>
            </a:r>
            <a:r>
              <a:rPr lang="en-IN" dirty="0"/>
              <a:t> import </a:t>
            </a:r>
            <a:r>
              <a:rPr lang="en-IN" dirty="0" err="1"/>
              <a:t>train_test_split</a:t>
            </a:r>
            <a:endParaRPr lang="en-IN" dirty="0"/>
          </a:p>
          <a:p>
            <a:r>
              <a:rPr lang="en-IN" dirty="0" err="1"/>
              <a:t>X_train</a:t>
            </a:r>
            <a:r>
              <a:rPr lang="en-IN" dirty="0"/>
              <a:t>, </a:t>
            </a:r>
            <a:r>
              <a:rPr lang="en-IN" dirty="0" err="1"/>
              <a:t>X_test</a:t>
            </a:r>
            <a:r>
              <a:rPr lang="en-IN" dirty="0"/>
              <a:t>, </a:t>
            </a:r>
            <a:r>
              <a:rPr lang="en-IN" dirty="0" err="1"/>
              <a:t>y_train</a:t>
            </a:r>
            <a:r>
              <a:rPr lang="en-IN" dirty="0"/>
              <a:t>, </a:t>
            </a:r>
            <a:r>
              <a:rPr lang="en-IN" dirty="0" err="1"/>
              <a:t>y_test</a:t>
            </a:r>
            <a:r>
              <a:rPr lang="en-IN" dirty="0"/>
              <a:t> = </a:t>
            </a:r>
            <a:r>
              <a:rPr lang="en-IN" dirty="0" err="1"/>
              <a:t>train_test_split</a:t>
            </a:r>
            <a:r>
              <a:rPr lang="en-IN" dirty="0"/>
              <a:t>(X, y, </a:t>
            </a:r>
            <a:r>
              <a:rPr lang="en-IN" dirty="0" err="1"/>
              <a:t>test_size</a:t>
            </a:r>
            <a:r>
              <a:rPr lang="en-IN" dirty="0"/>
              <a:t>=0.33, </a:t>
            </a:r>
            <a:r>
              <a:rPr lang="en-IN" dirty="0" err="1"/>
              <a:t>random_state</a:t>
            </a:r>
            <a:r>
              <a:rPr lang="en-IN" dirty="0"/>
              <a:t>=60)</a:t>
            </a:r>
          </a:p>
          <a:p>
            <a:r>
              <a:rPr lang="en-IN" dirty="0"/>
              <a:t>from </a:t>
            </a:r>
            <a:r>
              <a:rPr lang="en-IN" dirty="0" err="1"/>
              <a:t>sklearn.ensemble</a:t>
            </a:r>
            <a:r>
              <a:rPr lang="en-IN" dirty="0"/>
              <a:t> import </a:t>
            </a:r>
            <a:r>
              <a:rPr lang="en-IN" dirty="0" err="1"/>
              <a:t>ExtraTreesClassifier</a:t>
            </a:r>
            <a:endParaRPr lang="en-IN" dirty="0"/>
          </a:p>
          <a:p>
            <a:r>
              <a:rPr lang="en-IN" dirty="0"/>
              <a:t>Etc=</a:t>
            </a:r>
            <a:r>
              <a:rPr lang="en-IN" dirty="0" err="1"/>
              <a:t>ExtraTreesClassifier</a:t>
            </a:r>
            <a:r>
              <a:rPr lang="en-IN" dirty="0"/>
              <a:t>(</a:t>
            </a:r>
            <a:r>
              <a:rPr lang="en-IN" dirty="0" err="1"/>
              <a:t>n_estimators</a:t>
            </a:r>
            <a:r>
              <a:rPr lang="en-IN" dirty="0"/>
              <a:t>=100,max_depth=6,min_samples_split=2,min_weight_fraction_leaf =0.0,n_jobs=-1)</a:t>
            </a:r>
          </a:p>
        </p:txBody>
      </p:sp>
    </p:spTree>
    <p:extLst>
      <p:ext uri="{BB962C8B-B14F-4D97-AF65-F5344CB8AC3E}">
        <p14:creationId xmlns:p14="http://schemas.microsoft.com/office/powerpoint/2010/main" val="1941004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BD15F-365F-232D-7737-605638B19A0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6750D56-4CD3-ECD7-3021-C039FBD92C9F}"/>
              </a:ext>
            </a:extLst>
          </p:cNvPr>
          <p:cNvSpPr>
            <a:spLocks noGrp="1"/>
          </p:cNvSpPr>
          <p:nvPr>
            <p:ph type="body" idx="1"/>
          </p:nvPr>
        </p:nvSpPr>
        <p:spPr>
          <a:xfrm>
            <a:off x="535940" y="1295400"/>
            <a:ext cx="8073390" cy="4154984"/>
          </a:xfrm>
        </p:spPr>
        <p:txBody>
          <a:bodyPr/>
          <a:lstStyle/>
          <a:p>
            <a:r>
              <a:rPr lang="en-IN" dirty="0" err="1"/>
              <a:t>etc.fit</a:t>
            </a:r>
            <a:r>
              <a:rPr lang="en-IN" dirty="0"/>
              <a:t>(</a:t>
            </a:r>
            <a:r>
              <a:rPr lang="en-IN" dirty="0" err="1"/>
              <a:t>X_train</a:t>
            </a:r>
            <a:r>
              <a:rPr lang="en-IN" dirty="0"/>
              <a:t>, </a:t>
            </a:r>
            <a:r>
              <a:rPr lang="en-IN" dirty="0" err="1"/>
              <a:t>y_train</a:t>
            </a:r>
            <a:r>
              <a:rPr lang="en-IN" dirty="0"/>
              <a:t>)</a:t>
            </a:r>
          </a:p>
          <a:p>
            <a:r>
              <a:rPr lang="en-IN" dirty="0"/>
              <a:t>print(</a:t>
            </a:r>
            <a:r>
              <a:rPr lang="en-IN" dirty="0" err="1"/>
              <a:t>etc.score</a:t>
            </a:r>
            <a:r>
              <a:rPr lang="en-IN" dirty="0"/>
              <a:t>(</a:t>
            </a:r>
            <a:r>
              <a:rPr lang="en-IN" dirty="0" err="1"/>
              <a:t>X_test</a:t>
            </a:r>
            <a:r>
              <a:rPr lang="en-IN" dirty="0"/>
              <a:t>, </a:t>
            </a:r>
            <a:r>
              <a:rPr lang="en-IN" dirty="0" err="1"/>
              <a:t>y_test</a:t>
            </a:r>
            <a:r>
              <a:rPr lang="en-IN" dirty="0"/>
              <a:t>)*100)</a:t>
            </a:r>
          </a:p>
          <a:p>
            <a:r>
              <a:rPr lang="en-IN" dirty="0"/>
              <a:t>y_pred9 = </a:t>
            </a:r>
            <a:r>
              <a:rPr lang="en-IN" dirty="0" err="1"/>
              <a:t>etc.predict</a:t>
            </a:r>
            <a:r>
              <a:rPr lang="en-IN" dirty="0"/>
              <a:t>(</a:t>
            </a:r>
            <a:r>
              <a:rPr lang="en-IN" dirty="0" err="1"/>
              <a:t>X_test</a:t>
            </a:r>
            <a:r>
              <a:rPr lang="en-IN" dirty="0"/>
              <a:t>)</a:t>
            </a:r>
          </a:p>
          <a:p>
            <a:r>
              <a:rPr lang="en-IN" dirty="0"/>
              <a:t>from </a:t>
            </a:r>
            <a:r>
              <a:rPr lang="en-IN" dirty="0" err="1"/>
              <a:t>sklearn.metrics</a:t>
            </a:r>
            <a:r>
              <a:rPr lang="en-IN" dirty="0"/>
              <a:t> import </a:t>
            </a:r>
            <a:r>
              <a:rPr lang="en-IN" dirty="0" err="1"/>
              <a:t>precision_recall_fscore_support</a:t>
            </a:r>
            <a:endParaRPr lang="en-IN" dirty="0"/>
          </a:p>
          <a:p>
            <a:r>
              <a:rPr lang="en-IN" dirty="0" err="1"/>
              <a:t>precision_recall_fscore_support</a:t>
            </a:r>
            <a:r>
              <a:rPr lang="en-IN" dirty="0"/>
              <a:t>(</a:t>
            </a:r>
            <a:r>
              <a:rPr lang="en-IN" dirty="0" err="1"/>
              <a:t>y_test</a:t>
            </a:r>
            <a:r>
              <a:rPr lang="en-IN" dirty="0"/>
              <a:t>, y_pred9, average='macro')</a:t>
            </a:r>
          </a:p>
          <a:p>
            <a:r>
              <a:rPr lang="en-IN" dirty="0"/>
              <a:t>from </a:t>
            </a:r>
            <a:r>
              <a:rPr lang="en-IN" dirty="0" err="1"/>
              <a:t>sklearn.ensemble</a:t>
            </a:r>
            <a:r>
              <a:rPr lang="en-IN" dirty="0"/>
              <a:t> import </a:t>
            </a:r>
            <a:r>
              <a:rPr lang="en-IN" dirty="0" err="1"/>
              <a:t>RandomForestClassifier</a:t>
            </a:r>
            <a:endParaRPr lang="en-IN" dirty="0"/>
          </a:p>
          <a:p>
            <a:r>
              <a:rPr lang="en-IN" dirty="0" err="1"/>
              <a:t>clf</a:t>
            </a:r>
            <a:r>
              <a:rPr lang="en-IN" dirty="0"/>
              <a:t> = </a:t>
            </a:r>
            <a:r>
              <a:rPr lang="en-IN" dirty="0" err="1"/>
              <a:t>RandomForestClassifier</a:t>
            </a:r>
            <a:r>
              <a:rPr lang="en-IN" dirty="0"/>
              <a:t>(</a:t>
            </a:r>
            <a:r>
              <a:rPr lang="en-IN" dirty="0" err="1"/>
              <a:t>n_estimators</a:t>
            </a:r>
            <a:r>
              <a:rPr lang="en-IN" dirty="0"/>
              <a:t> = 100) </a:t>
            </a:r>
          </a:p>
          <a:p>
            <a:r>
              <a:rPr lang="en-IN" dirty="0" err="1"/>
              <a:t>clf.fit</a:t>
            </a:r>
            <a:r>
              <a:rPr lang="en-IN" dirty="0"/>
              <a:t>(</a:t>
            </a:r>
            <a:r>
              <a:rPr lang="en-IN" dirty="0" err="1"/>
              <a:t>X_train</a:t>
            </a:r>
            <a:r>
              <a:rPr lang="en-IN" dirty="0"/>
              <a:t>, </a:t>
            </a:r>
            <a:r>
              <a:rPr lang="en-IN" dirty="0" err="1"/>
              <a:t>y_train</a:t>
            </a:r>
            <a:r>
              <a:rPr lang="en-IN" dirty="0"/>
              <a:t>)</a:t>
            </a:r>
          </a:p>
          <a:p>
            <a:r>
              <a:rPr lang="en-IN" dirty="0"/>
              <a:t>y_pred8 = </a:t>
            </a:r>
            <a:r>
              <a:rPr lang="en-IN" dirty="0" err="1"/>
              <a:t>clf.predict</a:t>
            </a:r>
            <a:r>
              <a:rPr lang="en-IN" dirty="0"/>
              <a:t>(</a:t>
            </a:r>
            <a:r>
              <a:rPr lang="en-IN" dirty="0" err="1"/>
              <a:t>X_test</a:t>
            </a:r>
            <a:r>
              <a:rPr lang="en-IN" dirty="0"/>
              <a:t>)</a:t>
            </a:r>
          </a:p>
          <a:p>
            <a:r>
              <a:rPr lang="en-IN" dirty="0"/>
              <a:t>from </a:t>
            </a:r>
            <a:r>
              <a:rPr lang="en-IN" dirty="0" err="1"/>
              <a:t>sklearn</a:t>
            </a:r>
            <a:r>
              <a:rPr lang="en-IN" dirty="0"/>
              <a:t> import metrics </a:t>
            </a:r>
          </a:p>
          <a:p>
            <a:r>
              <a:rPr lang="en-IN" dirty="0"/>
              <a:t>print()</a:t>
            </a:r>
          </a:p>
          <a:p>
            <a:r>
              <a:rPr lang="en-IN" dirty="0"/>
              <a:t># using metrics module for accuracy calculation</a:t>
            </a:r>
          </a:p>
          <a:p>
            <a:r>
              <a:rPr lang="en-IN" dirty="0"/>
              <a:t>print( </a:t>
            </a:r>
            <a:r>
              <a:rPr lang="en-IN" dirty="0" err="1"/>
              <a:t>metrics.accuracy_score</a:t>
            </a:r>
            <a:r>
              <a:rPr lang="en-IN" dirty="0"/>
              <a:t>(</a:t>
            </a:r>
            <a:r>
              <a:rPr lang="en-IN" dirty="0" err="1"/>
              <a:t>y_test</a:t>
            </a:r>
            <a:r>
              <a:rPr lang="en-IN" dirty="0"/>
              <a:t>, y_pred8)*100)</a:t>
            </a:r>
          </a:p>
          <a:p>
            <a:r>
              <a:rPr lang="en-IN" dirty="0"/>
              <a:t>from </a:t>
            </a:r>
            <a:r>
              <a:rPr lang="en-IN" dirty="0" err="1"/>
              <a:t>sklearn.metrics</a:t>
            </a:r>
            <a:r>
              <a:rPr lang="en-IN" dirty="0"/>
              <a:t> import </a:t>
            </a:r>
            <a:r>
              <a:rPr lang="en-IN" dirty="0" err="1"/>
              <a:t>precision_recall_fscore_support</a:t>
            </a:r>
            <a:endParaRPr lang="en-IN" dirty="0"/>
          </a:p>
          <a:p>
            <a:endParaRPr lang="en-IN" dirty="0"/>
          </a:p>
        </p:txBody>
      </p:sp>
    </p:spTree>
    <p:extLst>
      <p:ext uri="{BB962C8B-B14F-4D97-AF65-F5344CB8AC3E}">
        <p14:creationId xmlns:p14="http://schemas.microsoft.com/office/powerpoint/2010/main" val="855052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7D7A0-49C0-5530-7BB4-0638733F782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0D7C8ED1-F2FE-8385-8935-31F55DDB4278}"/>
              </a:ext>
            </a:extLst>
          </p:cNvPr>
          <p:cNvSpPr>
            <a:spLocks noGrp="1"/>
          </p:cNvSpPr>
          <p:nvPr>
            <p:ph type="body" idx="1"/>
          </p:nvPr>
        </p:nvSpPr>
        <p:spPr>
          <a:xfrm>
            <a:off x="535940" y="1295400"/>
            <a:ext cx="8073390" cy="4431983"/>
          </a:xfrm>
        </p:spPr>
        <p:txBody>
          <a:bodyPr/>
          <a:lstStyle/>
          <a:p>
            <a:r>
              <a:rPr lang="en-IN" dirty="0" err="1"/>
              <a:t>precision_recall_fscore_support</a:t>
            </a:r>
            <a:r>
              <a:rPr lang="en-IN" dirty="0"/>
              <a:t>(</a:t>
            </a:r>
            <a:r>
              <a:rPr lang="en-IN" dirty="0" err="1"/>
              <a:t>y_test</a:t>
            </a:r>
            <a:r>
              <a:rPr lang="en-IN" dirty="0"/>
              <a:t>, y_pred8, average='macro')</a:t>
            </a:r>
          </a:p>
          <a:p>
            <a:r>
              <a:rPr lang="en-IN" dirty="0"/>
              <a:t>from </a:t>
            </a:r>
            <a:r>
              <a:rPr lang="en-IN" dirty="0" err="1"/>
              <a:t>sklearn.tree</a:t>
            </a:r>
            <a:r>
              <a:rPr lang="en-IN" dirty="0"/>
              <a:t> import </a:t>
            </a:r>
            <a:r>
              <a:rPr lang="en-IN" dirty="0" err="1"/>
              <a:t>DecisionTreeClassifier</a:t>
            </a:r>
            <a:endParaRPr lang="en-IN" dirty="0"/>
          </a:p>
          <a:p>
            <a:r>
              <a:rPr lang="en-IN" dirty="0" err="1"/>
              <a:t>dtc</a:t>
            </a:r>
            <a:r>
              <a:rPr lang="en-IN" dirty="0"/>
              <a:t>=</a:t>
            </a:r>
            <a:r>
              <a:rPr lang="en-IN" dirty="0" err="1"/>
              <a:t>DecisionTreeClassifier</a:t>
            </a:r>
            <a:r>
              <a:rPr lang="en-IN" dirty="0"/>
              <a:t>()</a:t>
            </a:r>
          </a:p>
          <a:p>
            <a:r>
              <a:rPr lang="en-IN" dirty="0" err="1"/>
              <a:t>dtc.fit</a:t>
            </a:r>
            <a:r>
              <a:rPr lang="en-IN" dirty="0"/>
              <a:t>(</a:t>
            </a:r>
            <a:r>
              <a:rPr lang="en-IN" dirty="0" err="1"/>
              <a:t>X_train</a:t>
            </a:r>
            <a:r>
              <a:rPr lang="en-IN" dirty="0"/>
              <a:t>, </a:t>
            </a:r>
            <a:r>
              <a:rPr lang="en-IN" dirty="0" err="1"/>
              <a:t>y_train</a:t>
            </a:r>
            <a:r>
              <a:rPr lang="en-IN" dirty="0"/>
              <a:t>)</a:t>
            </a:r>
          </a:p>
          <a:p>
            <a:r>
              <a:rPr lang="en-IN" dirty="0"/>
              <a:t>y_test_predict2=</a:t>
            </a:r>
            <a:r>
              <a:rPr lang="en-IN" dirty="0" err="1"/>
              <a:t>dtc.predict</a:t>
            </a:r>
            <a:r>
              <a:rPr lang="en-IN" dirty="0"/>
              <a:t>(</a:t>
            </a:r>
            <a:r>
              <a:rPr lang="en-IN" dirty="0" err="1"/>
              <a:t>X_test</a:t>
            </a:r>
            <a:r>
              <a:rPr lang="en-IN" dirty="0"/>
              <a:t>)</a:t>
            </a:r>
          </a:p>
          <a:p>
            <a:r>
              <a:rPr lang="en-IN" dirty="0" err="1"/>
              <a:t>test_accuracy</a:t>
            </a:r>
            <a:r>
              <a:rPr lang="en-IN" dirty="0"/>
              <a:t>=(</a:t>
            </a:r>
            <a:r>
              <a:rPr lang="en-IN" dirty="0" err="1"/>
              <a:t>metrics.accuracy_score</a:t>
            </a:r>
            <a:r>
              <a:rPr lang="en-IN" dirty="0"/>
              <a:t>(y_test,y_test_predict2)*100)</a:t>
            </a:r>
          </a:p>
          <a:p>
            <a:r>
              <a:rPr lang="en-IN" dirty="0" err="1"/>
              <a:t>test_accuracy</a:t>
            </a:r>
            <a:endParaRPr lang="en-IN" dirty="0"/>
          </a:p>
          <a:p>
            <a:r>
              <a:rPr lang="en-IN" dirty="0"/>
              <a:t>from </a:t>
            </a:r>
            <a:r>
              <a:rPr lang="en-IN" dirty="0" err="1"/>
              <a:t>sklearn.svm</a:t>
            </a:r>
            <a:r>
              <a:rPr lang="en-IN" dirty="0"/>
              <a:t> import SVC</a:t>
            </a:r>
          </a:p>
          <a:p>
            <a:r>
              <a:rPr lang="en-IN" dirty="0"/>
              <a:t>from </a:t>
            </a:r>
            <a:r>
              <a:rPr lang="en-IN" dirty="0" err="1"/>
              <a:t>sklearn.metrics</a:t>
            </a:r>
            <a:r>
              <a:rPr lang="en-IN" dirty="0"/>
              <a:t> import </a:t>
            </a:r>
            <a:r>
              <a:rPr lang="en-IN" dirty="0" err="1"/>
              <a:t>accuracy_score</a:t>
            </a:r>
            <a:endParaRPr lang="en-IN" dirty="0"/>
          </a:p>
          <a:p>
            <a:r>
              <a:rPr lang="en-IN" dirty="0"/>
              <a:t>svc= SVC()</a:t>
            </a:r>
          </a:p>
          <a:p>
            <a:r>
              <a:rPr lang="en-IN" dirty="0" err="1"/>
              <a:t>svc.fit</a:t>
            </a:r>
            <a:r>
              <a:rPr lang="en-IN" dirty="0"/>
              <a:t>(</a:t>
            </a:r>
            <a:r>
              <a:rPr lang="en-IN" dirty="0" err="1"/>
              <a:t>X_train,y_train</a:t>
            </a:r>
            <a:r>
              <a:rPr lang="en-IN" dirty="0"/>
              <a:t>)</a:t>
            </a:r>
          </a:p>
          <a:p>
            <a:r>
              <a:rPr lang="en-IN" dirty="0"/>
              <a:t>y_test_predict4=</a:t>
            </a:r>
            <a:r>
              <a:rPr lang="en-IN" dirty="0" err="1"/>
              <a:t>svc.predict</a:t>
            </a:r>
            <a:r>
              <a:rPr lang="en-IN" dirty="0"/>
              <a:t>(</a:t>
            </a:r>
            <a:r>
              <a:rPr lang="en-IN" dirty="0" err="1"/>
              <a:t>X_test</a:t>
            </a:r>
            <a:r>
              <a:rPr lang="en-IN" dirty="0"/>
              <a:t>)</a:t>
            </a:r>
          </a:p>
          <a:p>
            <a:r>
              <a:rPr lang="en-IN" dirty="0" err="1"/>
              <a:t>test_accuracy</a:t>
            </a:r>
            <a:r>
              <a:rPr lang="en-IN" dirty="0"/>
              <a:t>=(</a:t>
            </a:r>
            <a:r>
              <a:rPr lang="en-IN" dirty="0" err="1"/>
              <a:t>accuracy_score</a:t>
            </a:r>
            <a:r>
              <a:rPr lang="en-IN" dirty="0"/>
              <a:t>(y_test,y_test_predict4)*100)</a:t>
            </a:r>
          </a:p>
          <a:p>
            <a:r>
              <a:rPr lang="en-IN" dirty="0" err="1"/>
              <a:t>test_accuracy</a:t>
            </a:r>
            <a:endParaRPr lang="en-IN" dirty="0"/>
          </a:p>
          <a:p>
            <a:r>
              <a:rPr lang="en-IN" dirty="0" err="1"/>
              <a:t>df.head</a:t>
            </a:r>
            <a:r>
              <a:rPr lang="en-IN" dirty="0"/>
              <a:t>()</a:t>
            </a:r>
          </a:p>
          <a:p>
            <a:endParaRPr lang="en-IN" dirty="0"/>
          </a:p>
        </p:txBody>
      </p:sp>
    </p:spTree>
    <p:extLst>
      <p:ext uri="{BB962C8B-B14F-4D97-AF65-F5344CB8AC3E}">
        <p14:creationId xmlns:p14="http://schemas.microsoft.com/office/powerpoint/2010/main" val="1953132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a:extLst>
              <a:ext uri="{FF2B5EF4-FFF2-40B4-BE49-F238E27FC236}">
                <a16:creationId xmlns:a16="http://schemas.microsoft.com/office/drawing/2014/main" id="{931E1E02-3B90-987B-7AB2-1F8385FDE105}"/>
              </a:ext>
            </a:extLst>
          </p:cNvPr>
          <p:cNvSpPr>
            <a:spLocks noGrp="1" noChangeArrowheads="1"/>
          </p:cNvSpPr>
          <p:nvPr>
            <p:ph type="body" idx="1"/>
          </p:nvPr>
        </p:nvSpPr>
        <p:spPr bwMode="auto">
          <a:xfrm>
            <a:off x="535940" y="368498"/>
            <a:ext cx="7084060" cy="61863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APP.PY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33B3"/>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from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flask </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import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Flask,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render_template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request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import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numpy</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as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np</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import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pickle</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model =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pickle.load</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80"/>
                </a:solidFill>
                <a:effectLst/>
                <a:latin typeface="Times New Roman" panose="02020603050405020304" pitchFamily="18" charset="0"/>
                <a:cs typeface="Times New Roman" panose="02020603050405020304" pitchFamily="18" charset="0"/>
              </a:rPr>
              <a:t>open</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err="1">
                <a:ln>
                  <a:noFill/>
                </a:ln>
                <a:solidFill>
                  <a:srgbClr val="067D17"/>
                </a:solidFill>
                <a:effectLst/>
                <a:latin typeface="Times New Roman" panose="02020603050405020304" pitchFamily="18" charset="0"/>
                <a:cs typeface="Times New Roman" panose="02020603050405020304" pitchFamily="18" charset="0"/>
              </a:rPr>
              <a:t>r"pancreas.pkl</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err="1">
                <a:ln>
                  <a:noFill/>
                </a:ln>
                <a:solidFill>
                  <a:srgbClr val="067D17"/>
                </a:solidFill>
                <a:effectLst/>
                <a:latin typeface="Times New Roman" panose="02020603050405020304" pitchFamily="18" charset="0"/>
                <a:cs typeface="Times New Roman" panose="02020603050405020304" pitchFamily="18" charset="0"/>
              </a:rPr>
              <a:t>rb</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app = Flask(__name__)</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9E880D"/>
                </a:solidFill>
                <a:effectLst/>
                <a:latin typeface="Times New Roman" panose="02020603050405020304" pitchFamily="18" charset="0"/>
                <a:cs typeface="Times New Roman" panose="02020603050405020304" pitchFamily="18" charset="0"/>
              </a:rPr>
              <a:t>@app.route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def </a:t>
            </a:r>
            <a:r>
              <a:rPr kumimoji="0" lang="en-US" altLang="en-US" b="0" i="0" u="none" strike="noStrike" cap="none" normalizeH="0" baseline="0" dirty="0">
                <a:ln>
                  <a:noFill/>
                </a:ln>
                <a:solidFill>
                  <a:srgbClr val="00627A"/>
                </a:solidFill>
                <a:effectLst/>
                <a:latin typeface="Times New Roman" panose="02020603050405020304" pitchFamily="18" charset="0"/>
                <a:cs typeface="Times New Roman" panose="02020603050405020304" pitchFamily="18" charset="0"/>
              </a:rPr>
              <a:t>about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return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render_template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'home.html'</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9E880D"/>
                </a:solidFill>
                <a:effectLst/>
                <a:latin typeface="Times New Roman" panose="02020603050405020304" pitchFamily="18" charset="0"/>
                <a:cs typeface="Times New Roman" panose="02020603050405020304" pitchFamily="18" charset="0"/>
              </a:rPr>
              <a:t>@app.route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"/home"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def </a:t>
            </a:r>
            <a:r>
              <a:rPr kumimoji="0" lang="en-US" altLang="en-US" b="0" i="0" u="none" strike="noStrike" cap="none" normalizeH="0" baseline="0" dirty="0">
                <a:ln>
                  <a:noFill/>
                </a:ln>
                <a:solidFill>
                  <a:srgbClr val="00627A"/>
                </a:solidFill>
                <a:effectLst/>
                <a:latin typeface="Times New Roman" panose="02020603050405020304" pitchFamily="18" charset="0"/>
                <a:cs typeface="Times New Roman" panose="02020603050405020304" pitchFamily="18" charset="0"/>
              </a:rPr>
              <a:t>about1</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return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render_template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'home.html'</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9E880D"/>
                </a:solidFill>
                <a:effectLst/>
                <a:latin typeface="Times New Roman" panose="02020603050405020304" pitchFamily="18" charset="0"/>
                <a:cs typeface="Times New Roman" panose="02020603050405020304" pitchFamily="18" charset="0"/>
              </a:rPr>
              <a:t>@app.route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"/predict"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def </a:t>
            </a:r>
            <a:r>
              <a:rPr kumimoji="0" lang="en-US" altLang="en-US" b="0" i="0" u="none" strike="noStrike" cap="none" normalizeH="0" baseline="0" dirty="0">
                <a:ln>
                  <a:noFill/>
                </a:ln>
                <a:solidFill>
                  <a:srgbClr val="00627A"/>
                </a:solidFill>
                <a:effectLst/>
                <a:latin typeface="Times New Roman" panose="02020603050405020304" pitchFamily="18" charset="0"/>
                <a:cs typeface="Times New Roman" panose="02020603050405020304" pitchFamily="18" charset="0"/>
              </a:rPr>
              <a:t>home1</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return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render_template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'predict.html'</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9E880D"/>
                </a:solidFill>
                <a:effectLst/>
                <a:latin typeface="Times New Roman" panose="02020603050405020304" pitchFamily="18" charset="0"/>
                <a:cs typeface="Times New Roman" panose="02020603050405020304" pitchFamily="18" charset="0"/>
              </a:rPr>
              <a:t>@app.route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"/performance_analysis"</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def </a:t>
            </a:r>
            <a:r>
              <a:rPr kumimoji="0" lang="en-US" altLang="en-US" b="0" i="0" u="none" strike="noStrike" cap="none" normalizeH="0" baseline="0" dirty="0" err="1">
                <a:ln>
                  <a:noFill/>
                </a:ln>
                <a:solidFill>
                  <a:srgbClr val="00627A"/>
                </a:solidFill>
                <a:effectLst/>
                <a:latin typeface="Times New Roman" panose="02020603050405020304" pitchFamily="18" charset="0"/>
                <a:cs typeface="Times New Roman" panose="02020603050405020304" pitchFamily="18" charset="0"/>
              </a:rPr>
              <a:t>performance_analysis</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return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render_template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'Performance_analysis.html'</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9E880D"/>
                </a:solidFill>
                <a:effectLst/>
                <a:latin typeface="Times New Roman" panose="02020603050405020304" pitchFamily="18" charset="0"/>
                <a:cs typeface="Times New Roman" panose="02020603050405020304" pitchFamily="18" charset="0"/>
              </a:rPr>
              <a:t>@app.route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"/Abouting"</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sz="900" b="0" i="0" u="none" strike="noStrike" cap="none" normalizeH="0" baseline="0" dirty="0">
                <a:ln>
                  <a:noFill/>
                </a:ln>
                <a:solidFill>
                  <a:srgbClr val="080808"/>
                </a:solidFill>
                <a:effectLst/>
                <a:latin typeface="JetBrains Mono"/>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1076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FA252FB-B7ED-53C7-DFF7-EA993DAD8BE6}"/>
              </a:ext>
            </a:extLst>
          </p:cNvPr>
          <p:cNvSpPr>
            <a:spLocks noGrp="1" noChangeArrowheads="1"/>
          </p:cNvSpPr>
          <p:nvPr>
            <p:ph type="body" idx="1"/>
          </p:nvPr>
        </p:nvSpPr>
        <p:spPr bwMode="auto">
          <a:xfrm>
            <a:off x="535940" y="783994"/>
            <a:ext cx="6309741" cy="535531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def </a:t>
            </a:r>
            <a:r>
              <a:rPr kumimoji="0" lang="en-US" altLang="en-US" b="0" i="0" u="none" strike="noStrike" cap="none" normalizeH="0" baseline="0" dirty="0" err="1">
                <a:ln>
                  <a:noFill/>
                </a:ln>
                <a:solidFill>
                  <a:srgbClr val="00627A"/>
                </a:solidFill>
                <a:effectLst/>
                <a:latin typeface="Times New Roman" panose="02020603050405020304" pitchFamily="18" charset="0"/>
                <a:cs typeface="Times New Roman" panose="02020603050405020304" pitchFamily="18" charset="0"/>
              </a:rPr>
              <a:t>aboutuss</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return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render_template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'aboutuss.html'</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9E880D"/>
                </a:solidFill>
                <a:effectLst/>
                <a:latin typeface="Times New Roman" panose="02020603050405020304" pitchFamily="18" charset="0"/>
                <a:cs typeface="Times New Roman" panose="02020603050405020304" pitchFamily="18" charset="0"/>
              </a:rPr>
              <a:t>@app.route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"/pred"</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660099"/>
                </a:solidFill>
                <a:effectLst/>
                <a:latin typeface="Times New Roman" panose="02020603050405020304" pitchFamily="18" charset="0"/>
                <a:cs typeface="Times New Roman" panose="02020603050405020304" pitchFamily="18" charset="0"/>
              </a:rPr>
              <a:t>methods</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'POST'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'GET'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def </a:t>
            </a:r>
            <a:r>
              <a:rPr kumimoji="0" lang="en-US" altLang="en-US" b="0" i="0" u="none" strike="noStrike" cap="none" normalizeH="0" baseline="0" dirty="0">
                <a:ln>
                  <a:noFill/>
                </a:ln>
                <a:solidFill>
                  <a:srgbClr val="00627A"/>
                </a:solidFill>
                <a:effectLst/>
                <a:latin typeface="Times New Roman" panose="02020603050405020304" pitchFamily="18" charset="0"/>
                <a:cs typeface="Times New Roman" panose="02020603050405020304" pitchFamily="18" charset="0"/>
              </a:rPr>
              <a:t>predict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 </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for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x </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in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request.form.values</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80"/>
                </a:solidFill>
                <a:effectLst/>
                <a:latin typeface="Times New Roman" panose="02020603050405020304" pitchFamily="18" charset="0"/>
                <a:cs typeface="Times New Roman" panose="02020603050405020304" pitchFamily="18" charset="0"/>
              </a:rPr>
              <a:t>print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np.array</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80"/>
                </a:solidFill>
                <a:effectLst/>
                <a:latin typeface="Times New Roman" panose="02020603050405020304" pitchFamily="18" charset="0"/>
                <a:cs typeface="Times New Roman" panose="02020603050405020304" pitchFamily="18" charset="0"/>
              </a:rPr>
              <a:t>print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x</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.shape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80"/>
                </a:solidFill>
                <a:effectLst/>
                <a:latin typeface="Times New Roman" panose="02020603050405020304" pitchFamily="18" charset="0"/>
                <a:cs typeface="Times New Roman" panose="02020603050405020304" pitchFamily="18" charset="0"/>
              </a:rPr>
              <a:t>print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pred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model.predict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if </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pred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1750EB"/>
                </a:solidFill>
                <a:effectLst/>
                <a:latin typeface="Times New Roman" panose="02020603050405020304" pitchFamily="18" charset="0"/>
                <a:cs typeface="Times New Roman" panose="02020603050405020304" pitchFamily="18" charset="0"/>
              </a:rPr>
              <a:t>0</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pred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'Healthy'</a:t>
            </a:r>
            <a:b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rgbClr val="0033B3"/>
                </a:solidFill>
                <a:effectLst/>
                <a:latin typeface="Times New Roman" panose="02020603050405020304" pitchFamily="18" charset="0"/>
                <a:cs typeface="Times New Roman" panose="02020603050405020304" pitchFamily="18" charset="0"/>
              </a:rPr>
              <a:t>elif</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pred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1750EB"/>
                </a:solidFill>
                <a:effectLst/>
                <a:latin typeface="Times New Roman" panose="02020603050405020304" pitchFamily="18" charset="0"/>
                <a:cs typeface="Times New Roman" panose="02020603050405020304" pitchFamily="18" charset="0"/>
              </a:rPr>
              <a:t>1</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pred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'Benign hepatobiliary Disease'</a:t>
            </a:r>
            <a:b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else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pred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'Pancreas Cancer Detected'</a:t>
            </a:r>
            <a:b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return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render_template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'submit.html'</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rgbClr val="660099"/>
                </a:solidFill>
                <a:effectLst/>
                <a:latin typeface="Times New Roman" panose="02020603050405020304" pitchFamily="18" charset="0"/>
                <a:cs typeface="Times New Roman" panose="02020603050405020304" pitchFamily="18" charset="0"/>
              </a:rPr>
              <a:t>prediction_text</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80"/>
                </a:solidFill>
                <a:effectLst/>
                <a:latin typeface="Times New Roman" panose="02020603050405020304" pitchFamily="18" charset="0"/>
                <a:cs typeface="Times New Roman" panose="02020603050405020304" pitchFamily="18" charset="0"/>
              </a:rPr>
              <a:t>str</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pred</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if </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__name__ == </a:t>
            </a:r>
            <a:r>
              <a:rPr kumimoji="0" lang="en-US" altLang="en-US" b="0" i="0" u="none" strike="noStrike" cap="none" normalizeH="0" baseline="0" dirty="0">
                <a:ln>
                  <a:noFill/>
                </a:ln>
                <a:solidFill>
                  <a:srgbClr val="067D17"/>
                </a:solidFill>
                <a:effectLst/>
                <a:latin typeface="Times New Roman" panose="02020603050405020304" pitchFamily="18" charset="0"/>
                <a:cs typeface="Times New Roman" panose="02020603050405020304" pitchFamily="18" charset="0"/>
              </a:rPr>
              <a:t>"__main__"</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rgbClr val="080808"/>
                </a:solidFill>
                <a:effectLst/>
                <a:latin typeface="Times New Roman" panose="02020603050405020304" pitchFamily="18" charset="0"/>
                <a:cs typeface="Times New Roman" panose="02020603050405020304" pitchFamily="18" charset="0"/>
              </a:rPr>
              <a:t>app.run</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660099"/>
                </a:solidFill>
                <a:effectLst/>
                <a:latin typeface="Times New Roman" panose="02020603050405020304" pitchFamily="18" charset="0"/>
                <a:cs typeface="Times New Roman" panose="02020603050405020304" pitchFamily="18" charset="0"/>
              </a:rPr>
              <a:t>debug</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33B3"/>
                </a:solidFill>
                <a:effectLst/>
                <a:latin typeface="Times New Roman" panose="02020603050405020304" pitchFamily="18" charset="0"/>
                <a:cs typeface="Times New Roman" panose="02020603050405020304" pitchFamily="18" charset="0"/>
              </a:rPr>
              <a:t>True</a:t>
            </a:r>
            <a:r>
              <a:rPr kumimoji="0" lang="en-US" altLang="en-US" b="0" i="0" u="none" strike="noStrike" cap="none" normalizeH="0" baseline="0" dirty="0">
                <a:ln>
                  <a:noFill/>
                </a:ln>
                <a:solidFill>
                  <a:srgbClr val="080808"/>
                </a:solidFill>
                <a:effectLst/>
                <a:latin typeface="Times New Roman" panose="02020603050405020304" pitchFamily="18" charset="0"/>
                <a:cs typeface="Times New Roman" panose="02020603050405020304" pitchFamily="18" charset="0"/>
              </a:rPr>
              <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362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2FB68-4E62-5564-51C0-A5F4A97CBDA8}"/>
              </a:ext>
            </a:extLst>
          </p:cNvPr>
          <p:cNvSpPr>
            <a:spLocks noGrp="1"/>
          </p:cNvSpPr>
          <p:nvPr>
            <p:ph type="title"/>
          </p:nvPr>
        </p:nvSpPr>
        <p:spPr>
          <a:xfrm>
            <a:off x="2438401" y="632587"/>
            <a:ext cx="3247262" cy="510414"/>
          </a:xfrm>
        </p:spPr>
        <p:txBody>
          <a:bodyPr/>
          <a:lstStyle/>
          <a:p>
            <a:r>
              <a:rPr lang="en-IN" dirty="0"/>
              <a:t>OUTPUT SCREENS</a:t>
            </a:r>
          </a:p>
        </p:txBody>
      </p:sp>
      <p:sp>
        <p:nvSpPr>
          <p:cNvPr id="3" name="Text Placeholder 2">
            <a:extLst>
              <a:ext uri="{FF2B5EF4-FFF2-40B4-BE49-F238E27FC236}">
                <a16:creationId xmlns:a16="http://schemas.microsoft.com/office/drawing/2014/main" id="{570E2B8B-D35E-276A-3D68-47ED14560985}"/>
              </a:ext>
            </a:extLst>
          </p:cNvPr>
          <p:cNvSpPr>
            <a:spLocks noGrp="1"/>
          </p:cNvSpPr>
          <p:nvPr>
            <p:ph type="body" idx="1"/>
          </p:nvPr>
        </p:nvSpPr>
        <p:spPr>
          <a:xfrm>
            <a:off x="535940" y="1447800"/>
            <a:ext cx="8073390" cy="4419600"/>
          </a:xfrm>
        </p:spPr>
        <p:txBody>
          <a:bodyPr/>
          <a:lstStyle/>
          <a:p>
            <a:endParaRPr lang="en-IN" dirty="0"/>
          </a:p>
        </p:txBody>
      </p:sp>
      <p:pic>
        <p:nvPicPr>
          <p:cNvPr id="5" name="Picture 4">
            <a:extLst>
              <a:ext uri="{FF2B5EF4-FFF2-40B4-BE49-F238E27FC236}">
                <a16:creationId xmlns:a16="http://schemas.microsoft.com/office/drawing/2014/main" id="{3392A5E9-6CFE-27A6-0CE3-79C8BEFEA8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1447800"/>
            <a:ext cx="8073390" cy="2133599"/>
          </a:xfrm>
          <a:prstGeom prst="rect">
            <a:avLst/>
          </a:prstGeom>
        </p:spPr>
      </p:pic>
      <p:pic>
        <p:nvPicPr>
          <p:cNvPr id="13" name="Picture 12">
            <a:extLst>
              <a:ext uri="{FF2B5EF4-FFF2-40B4-BE49-F238E27FC236}">
                <a16:creationId xmlns:a16="http://schemas.microsoft.com/office/drawing/2014/main" id="{B4FCF1FD-4DA7-20C1-39BF-73B6A6B2BA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3657601"/>
            <a:ext cx="8230870" cy="2895600"/>
          </a:xfrm>
          <a:prstGeom prst="rect">
            <a:avLst/>
          </a:prstGeom>
        </p:spPr>
      </p:pic>
    </p:spTree>
    <p:extLst>
      <p:ext uri="{BB962C8B-B14F-4D97-AF65-F5344CB8AC3E}">
        <p14:creationId xmlns:p14="http://schemas.microsoft.com/office/powerpoint/2010/main" val="2739673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1BEA91-53D4-6010-D18B-4E239B656A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676400"/>
            <a:ext cx="8382000" cy="4725852"/>
          </a:xfrm>
          <a:prstGeom prst="rect">
            <a:avLst/>
          </a:prstGeom>
        </p:spPr>
      </p:pic>
      <p:sp>
        <p:nvSpPr>
          <p:cNvPr id="2" name="TextBox 1">
            <a:extLst>
              <a:ext uri="{FF2B5EF4-FFF2-40B4-BE49-F238E27FC236}">
                <a16:creationId xmlns:a16="http://schemas.microsoft.com/office/drawing/2014/main" id="{63506E4E-4409-8584-2259-8578C77ED29F}"/>
              </a:ext>
            </a:extLst>
          </p:cNvPr>
          <p:cNvSpPr txBox="1"/>
          <p:nvPr/>
        </p:nvSpPr>
        <p:spPr>
          <a:xfrm>
            <a:off x="349170" y="1219200"/>
            <a:ext cx="464820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Performance Analysis:</a:t>
            </a:r>
          </a:p>
        </p:txBody>
      </p:sp>
    </p:spTree>
    <p:extLst>
      <p:ext uri="{BB962C8B-B14F-4D97-AF65-F5344CB8AC3E}">
        <p14:creationId xmlns:p14="http://schemas.microsoft.com/office/powerpoint/2010/main" val="1525320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3A8423-5B06-6A2E-D93E-940414DC768E}"/>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316DBC8E-9E82-E3CB-4A46-91B851A21C09}"/>
              </a:ext>
            </a:extLst>
          </p:cNvPr>
          <p:cNvPicPr>
            <a:picLocks noChangeAspect="1"/>
          </p:cNvPicPr>
          <p:nvPr/>
        </p:nvPicPr>
        <p:blipFill>
          <a:blip r:embed="rId2"/>
          <a:stretch>
            <a:fillRect/>
          </a:stretch>
        </p:blipFill>
        <p:spPr>
          <a:xfrm>
            <a:off x="534670" y="1752600"/>
            <a:ext cx="8228330" cy="4571999"/>
          </a:xfrm>
          <a:prstGeom prst="rect">
            <a:avLst/>
          </a:prstGeom>
        </p:spPr>
      </p:pic>
    </p:spTree>
    <p:extLst>
      <p:ext uri="{BB962C8B-B14F-4D97-AF65-F5344CB8AC3E}">
        <p14:creationId xmlns:p14="http://schemas.microsoft.com/office/powerpoint/2010/main" val="4115162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CC96B-D3DB-B1CD-992C-E42C0A9F9983}"/>
              </a:ext>
            </a:extLst>
          </p:cNvPr>
          <p:cNvSpPr>
            <a:spLocks noGrp="1"/>
          </p:cNvSpPr>
          <p:nvPr>
            <p:ph type="title"/>
          </p:nvPr>
        </p:nvSpPr>
        <p:spPr>
          <a:xfrm>
            <a:off x="3458337" y="632586"/>
            <a:ext cx="2227325" cy="384721"/>
          </a:xfrm>
        </p:spPr>
        <p:txBody>
          <a:bodyPr/>
          <a:lstStyle/>
          <a:p>
            <a:r>
              <a:rPr lang="en-IN" dirty="0"/>
              <a:t>CONCLUSION</a:t>
            </a:r>
          </a:p>
        </p:txBody>
      </p:sp>
      <p:sp>
        <p:nvSpPr>
          <p:cNvPr id="3" name="Text Placeholder 2">
            <a:extLst>
              <a:ext uri="{FF2B5EF4-FFF2-40B4-BE49-F238E27FC236}">
                <a16:creationId xmlns:a16="http://schemas.microsoft.com/office/drawing/2014/main" id="{0D599681-A94C-71EB-F5D5-76AD632D2B1C}"/>
              </a:ext>
            </a:extLst>
          </p:cNvPr>
          <p:cNvSpPr>
            <a:spLocks noGrp="1"/>
          </p:cNvSpPr>
          <p:nvPr>
            <p:ph type="body" idx="1"/>
          </p:nvPr>
        </p:nvSpPr>
        <p:spPr>
          <a:xfrm>
            <a:off x="535304" y="1295400"/>
            <a:ext cx="8073390" cy="5262979"/>
          </a:xfrm>
        </p:spPr>
        <p:txBody>
          <a:bodyPr/>
          <a:lstStyle/>
          <a:p>
            <a:r>
              <a:rPr lang="en-US" dirty="0"/>
              <a:t>Early detection of Pancreatic Cancer is very important so that the handling of Pancreatic Cancer does not occur too late, before the cancer spreads to other organs in the body. However, early detection of PC is difficult because this cancer has non-specific symptoms.</a:t>
            </a:r>
          </a:p>
          <a:p>
            <a:r>
              <a:rPr lang="en-US" dirty="0"/>
              <a:t>	After classifying Pancreatic Cancer with SVM, Extra Tress, Decision Tree and Random Forest methods, it gets several results of accuracy. By comparing the values that are given from those methods , it is possible to conclude that Random Forest generates a better result than SVM, Extra Tress and  Decision Tree. Because of the good results, Random Forest is suggested to help the medical staff to predict or classify a disease rather than SVM, Extra Tress and  Decision Tree, especially for a dataset that is similar to this research.</a:t>
            </a:r>
          </a:p>
          <a:p>
            <a:r>
              <a:rPr lang="en-US" dirty="0"/>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average rate of accuracy of Extra Trees Classifier is 82.1%, SVM is 50%, Decision Tree Classifier is 81.3% and for Random Forest Classifier is 86.34%. From this, it is clear that Random Forest gives an accurate result than the other three classifier algorithm. So, it can be concluded that Random Forest Classifier performs better than the other three classification algorithms.</a:t>
            </a:r>
            <a:endParaRPr lang="en-US" dirty="0">
              <a:latin typeface="Times New Roman" panose="02020603050405020304" pitchFamily="18" charset="0"/>
              <a:cs typeface="Times New Roman" panose="02020603050405020304" pitchFamily="18" charset="0"/>
            </a:endParaRPr>
          </a:p>
          <a:p>
            <a:endParaRPr lang="en-US" dirty="0"/>
          </a:p>
          <a:p>
            <a:endParaRPr lang="en-US" dirty="0"/>
          </a:p>
          <a:p>
            <a:endParaRPr lang="en-IN" dirty="0"/>
          </a:p>
        </p:txBody>
      </p:sp>
    </p:spTree>
    <p:extLst>
      <p:ext uri="{BB962C8B-B14F-4D97-AF65-F5344CB8AC3E}">
        <p14:creationId xmlns:p14="http://schemas.microsoft.com/office/powerpoint/2010/main" val="1633746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B3E0C-2C4F-EC92-ACBE-2CBBA180B903}"/>
              </a:ext>
            </a:extLst>
          </p:cNvPr>
          <p:cNvSpPr>
            <a:spLocks noGrp="1"/>
          </p:cNvSpPr>
          <p:nvPr>
            <p:ph type="title"/>
          </p:nvPr>
        </p:nvSpPr>
        <p:spPr>
          <a:xfrm>
            <a:off x="3458337" y="632586"/>
            <a:ext cx="2227325" cy="384721"/>
          </a:xfrm>
        </p:spPr>
        <p:txBody>
          <a:bodyPr/>
          <a:lstStyle/>
          <a:p>
            <a:r>
              <a:rPr lang="en-IN" dirty="0"/>
              <a:t>Future Scope</a:t>
            </a:r>
          </a:p>
        </p:txBody>
      </p:sp>
      <p:sp>
        <p:nvSpPr>
          <p:cNvPr id="3" name="Text Placeholder 2">
            <a:extLst>
              <a:ext uri="{FF2B5EF4-FFF2-40B4-BE49-F238E27FC236}">
                <a16:creationId xmlns:a16="http://schemas.microsoft.com/office/drawing/2014/main" id="{715B1633-3BF1-E979-0906-C0C8CDA1752A}"/>
              </a:ext>
            </a:extLst>
          </p:cNvPr>
          <p:cNvSpPr>
            <a:spLocks noGrp="1"/>
          </p:cNvSpPr>
          <p:nvPr>
            <p:ph type="body" idx="1"/>
          </p:nvPr>
        </p:nvSpPr>
        <p:spPr>
          <a:xfrm>
            <a:off x="535940" y="1447800"/>
            <a:ext cx="8073390" cy="3706143"/>
          </a:xfrm>
        </p:spPr>
        <p:txBody>
          <a:bodyPr/>
          <a:lstStyle/>
          <a:p>
            <a:pPr marL="12065" marR="5080" algn="just">
              <a:lnSpc>
                <a:spcPct val="100000"/>
              </a:lnSpc>
              <a:spcBef>
                <a:spcPts val="105"/>
              </a:spcBef>
              <a:buSzPct val="95000"/>
              <a:tabLst>
                <a:tab pos="416559" algn="l"/>
              </a:tabLst>
            </a:pPr>
            <a:r>
              <a:rPr lang="en-US" sz="2000" dirty="0">
                <a:solidFill>
                  <a:srgbClr val="374151"/>
                </a:solidFill>
                <a:latin typeface="Söhne"/>
              </a:rPr>
              <a:t>T</a:t>
            </a:r>
            <a:r>
              <a:rPr lang="en-US" sz="2000" b="0" i="0" dirty="0">
                <a:solidFill>
                  <a:srgbClr val="374151"/>
                </a:solidFill>
                <a:effectLst/>
                <a:latin typeface="Söhne"/>
              </a:rPr>
              <a:t>he future scope of the project could involve the following advancements:</a:t>
            </a:r>
          </a:p>
          <a:p>
            <a:pPr marL="12065" marR="5080" algn="just">
              <a:lnSpc>
                <a:spcPct val="100000"/>
              </a:lnSpc>
              <a:spcBef>
                <a:spcPts val="105"/>
              </a:spcBef>
              <a:buSzPct val="95000"/>
              <a:tabLst>
                <a:tab pos="416559" algn="l"/>
              </a:tabLst>
            </a:pPr>
            <a:endParaRPr lang="en-US" sz="2900" dirty="0">
              <a:latin typeface="Times New Roman"/>
              <a:cs typeface="Times New Roman"/>
            </a:endParaRPr>
          </a:p>
          <a:p>
            <a:pPr marL="354965" marR="5080" indent="-342900" algn="just">
              <a:lnSpc>
                <a:spcPct val="100000"/>
              </a:lnSpc>
              <a:buFont typeface="Wingdings"/>
              <a:buChar char=""/>
              <a:tabLst>
                <a:tab pos="355600" algn="l"/>
              </a:tabLst>
            </a:pPr>
            <a:r>
              <a:rPr lang="en-US" b="0" i="0" dirty="0">
                <a:solidFill>
                  <a:srgbClr val="374151"/>
                </a:solidFill>
                <a:effectLst/>
                <a:latin typeface="Times New Roman" panose="02020603050405020304" pitchFamily="18" charset="0"/>
                <a:cs typeface="Times New Roman" panose="02020603050405020304" pitchFamily="18" charset="0"/>
              </a:rPr>
              <a:t>Keep making our computer tool smarter by trying out even better tricks and techniques beyond what we're using now.</a:t>
            </a:r>
            <a:endParaRPr lang="en-US" dirty="0">
              <a:latin typeface="Times New Roman" panose="02020603050405020304" pitchFamily="18" charset="0"/>
              <a:cs typeface="Times New Roman" panose="02020603050405020304" pitchFamily="18" charset="0"/>
            </a:endParaRPr>
          </a:p>
          <a:p>
            <a:pPr>
              <a:lnSpc>
                <a:spcPct val="100000"/>
              </a:lnSpc>
              <a:spcBef>
                <a:spcPts val="25"/>
              </a:spcBef>
              <a:buChar char=""/>
            </a:pPr>
            <a:endParaRPr lang="en-US" sz="2900" dirty="0">
              <a:latin typeface="Times New Roman"/>
              <a:cs typeface="Times New Roman"/>
            </a:endParaRPr>
          </a:p>
          <a:p>
            <a:pPr marL="354965" marR="5080" indent="-342900" algn="just">
              <a:lnSpc>
                <a:spcPct val="100000"/>
              </a:lnSpc>
              <a:buFont typeface="Wingdings"/>
              <a:buChar char=""/>
              <a:tabLst>
                <a:tab pos="355600" algn="l"/>
              </a:tabLst>
            </a:pPr>
            <a:r>
              <a:rPr lang="en-US" dirty="0">
                <a:latin typeface="Times New Roman"/>
                <a:cs typeface="Times New Roman"/>
              </a:rPr>
              <a:t>Imagine connecting our tool with cool gadgets people wear, like smartwatches or health monitors. This way, it can gather more information and become even better at spotting signs of pancreatic cancer.</a:t>
            </a:r>
          </a:p>
          <a:p>
            <a:pPr marL="354965" marR="5080" indent="-342900" algn="just">
              <a:lnSpc>
                <a:spcPct val="100000"/>
              </a:lnSpc>
              <a:buFont typeface="Wingdings"/>
              <a:buChar char=""/>
              <a:tabLst>
                <a:tab pos="355600" algn="l"/>
              </a:tabLst>
            </a:pPr>
            <a:endParaRPr lang="en-US" dirty="0">
              <a:latin typeface="Times New Roman"/>
              <a:cs typeface="Times New Roman"/>
            </a:endParaRPr>
          </a:p>
          <a:p>
            <a:pPr marL="354965" marR="5080" indent="-342900" algn="just">
              <a:lnSpc>
                <a:spcPct val="100000"/>
              </a:lnSpc>
              <a:buFont typeface="Wingdings"/>
              <a:buChar char=""/>
              <a:tabLst>
                <a:tab pos="355600" algn="l"/>
              </a:tabLst>
            </a:pPr>
            <a:r>
              <a:rPr lang="en-US" dirty="0">
                <a:latin typeface="Times New Roman"/>
                <a:cs typeface="Times New Roman"/>
              </a:rPr>
              <a:t>Think about how our tool could keep an eye on people's health all the time, not just once in a while. This might help predict problems early, like a superhero warning us about potential health issues.</a:t>
            </a:r>
          </a:p>
        </p:txBody>
      </p:sp>
    </p:spTree>
    <p:extLst>
      <p:ext uri="{BB962C8B-B14F-4D97-AF65-F5344CB8AC3E}">
        <p14:creationId xmlns:p14="http://schemas.microsoft.com/office/powerpoint/2010/main" val="3245256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1F08A-41D4-2D87-060D-D8BC0406E76B}"/>
              </a:ext>
            </a:extLst>
          </p:cNvPr>
          <p:cNvSpPr>
            <a:spLocks noGrp="1"/>
          </p:cNvSpPr>
          <p:nvPr>
            <p:ph type="title"/>
          </p:nvPr>
        </p:nvSpPr>
        <p:spPr>
          <a:xfrm>
            <a:off x="3458337" y="632586"/>
            <a:ext cx="2227325" cy="384721"/>
          </a:xfrm>
        </p:spPr>
        <p:txBody>
          <a:bodyPr/>
          <a:lstStyle/>
          <a:p>
            <a:r>
              <a:rPr lang="en-IN" dirty="0"/>
              <a:t>REFERENCE</a:t>
            </a:r>
          </a:p>
        </p:txBody>
      </p:sp>
      <p:sp>
        <p:nvSpPr>
          <p:cNvPr id="3" name="Text Placeholder 2">
            <a:extLst>
              <a:ext uri="{FF2B5EF4-FFF2-40B4-BE49-F238E27FC236}">
                <a16:creationId xmlns:a16="http://schemas.microsoft.com/office/drawing/2014/main" id="{DB1002D7-28D0-9F72-8AC6-1110AE919B72}"/>
              </a:ext>
            </a:extLst>
          </p:cNvPr>
          <p:cNvSpPr>
            <a:spLocks noGrp="1"/>
          </p:cNvSpPr>
          <p:nvPr>
            <p:ph type="body" idx="1"/>
          </p:nvPr>
        </p:nvSpPr>
        <p:spPr>
          <a:xfrm>
            <a:off x="533400" y="1143001"/>
            <a:ext cx="8075930" cy="5816977"/>
          </a:xfrm>
        </p:spPr>
        <p:txBody>
          <a:bodyPr/>
          <a:lstStyle/>
          <a:p>
            <a:pPr algn="just"/>
            <a:r>
              <a:rPr lang="en-IN" dirty="0"/>
              <a:t>[1] E. </a:t>
            </a:r>
            <a:r>
              <a:rPr lang="en-IN" dirty="0" err="1"/>
              <a:t>Grywalska</a:t>
            </a:r>
            <a:r>
              <a:rPr lang="en-IN" dirty="0"/>
              <a:t> et al., "Current Possibilities of </a:t>
            </a:r>
            <a:r>
              <a:rPr lang="en-IN" dirty="0" err="1"/>
              <a:t>Gynecologic</a:t>
            </a:r>
            <a:r>
              <a:rPr lang="en-IN" dirty="0"/>
              <a:t> Cancer Treatment with the Use of Immune Checkpoint Inhibitors," International Journal of Molecular Sciences, vol. 20, no. 19, September 2019.</a:t>
            </a:r>
          </a:p>
          <a:p>
            <a:pPr algn="just"/>
            <a:r>
              <a:rPr lang="en-IN" dirty="0"/>
              <a:t>[2] S. </a:t>
            </a:r>
            <a:r>
              <a:rPr lang="en-IN" dirty="0" err="1"/>
              <a:t>Midha</a:t>
            </a:r>
            <a:r>
              <a:rPr lang="en-IN" dirty="0"/>
              <a:t>, S. Chawla, and P. K. Garg, "Modifiable and non-modifiable risk factors for pancreatic cancer: A review," Cancer Letters, vol. 381, no. 1, pp. 269–277, October 2016.</a:t>
            </a:r>
          </a:p>
          <a:p>
            <a:pPr algn="just"/>
            <a:r>
              <a:rPr lang="en-IN" dirty="0"/>
              <a:t>[3] McGuigan, A. et al., "Pancreatic cancer: A review of clinical diagnosis, epidemiology, treatment, and outcomes," World Journal of Gastroenterology, vol. 24, no. 43, pp. 4846-4861, November 2018.</a:t>
            </a:r>
          </a:p>
          <a:p>
            <a:pPr algn="just"/>
            <a:r>
              <a:rPr lang="en-IN" dirty="0"/>
              <a:t>[4] Y. Qiu et al., "Towards Prediction of Pancreatic Cancer Using SVM Study Model," Journal of Clinical Oncology and Research, vol.2, no.4, May 2014.</a:t>
            </a:r>
          </a:p>
          <a:p>
            <a:pPr algn="just"/>
            <a:r>
              <a:rPr lang="en-IN" dirty="0"/>
              <a:t>[5] F. Bray et al. "Global Cancer Statistics 2018: GLOBOCAN estimates of incidence and mortality worldwide for 36 cancers in 185 countries," CA: A Cancer Journal for Clinicians, vol. 68, no. 6, pp. 394-424, September 2018.</a:t>
            </a:r>
          </a:p>
          <a:p>
            <a:pPr algn="just"/>
            <a:r>
              <a:rPr lang="en-IN" dirty="0"/>
              <a:t>[6] H. Matsubayashi et al. "Familial pancreatic cancer: Concept, Management, and Issues," World Journal of Gastroenterology, vol. 23, no. 6, pp. 935-948, February 2017.</a:t>
            </a:r>
          </a:p>
          <a:p>
            <a:pPr algn="just"/>
            <a:r>
              <a:rPr lang="en-IN" dirty="0"/>
              <a:t>[7] </a:t>
            </a:r>
            <a:r>
              <a:rPr lang="en-IN" dirty="0" err="1"/>
              <a:t>Rawla</a:t>
            </a:r>
            <a:r>
              <a:rPr lang="en-IN" dirty="0"/>
              <a:t>, Sunkara, &amp; </a:t>
            </a:r>
            <a:r>
              <a:rPr lang="en-IN" dirty="0" err="1"/>
              <a:t>Gaduputi</a:t>
            </a:r>
            <a:r>
              <a:rPr lang="en-IN" dirty="0"/>
              <a:t>, "Epidemiology of Pancreatic Cancer: Global Trends, </a:t>
            </a:r>
            <a:r>
              <a:rPr lang="en-IN" dirty="0" err="1"/>
              <a:t>Etiology</a:t>
            </a:r>
            <a:r>
              <a:rPr lang="en-IN" dirty="0"/>
              <a:t>, and Risk Factors," World Journal of Oncology, vol. 10, no. 1, pp. 10-27, February 2019.</a:t>
            </a:r>
          </a:p>
          <a:p>
            <a:endParaRPr lang="en-IN" dirty="0"/>
          </a:p>
          <a:p>
            <a:endParaRPr lang="en-IN" dirty="0"/>
          </a:p>
        </p:txBody>
      </p:sp>
    </p:spTree>
    <p:extLst>
      <p:ext uri="{BB962C8B-B14F-4D97-AF65-F5344CB8AC3E}">
        <p14:creationId xmlns:p14="http://schemas.microsoft.com/office/powerpoint/2010/main" val="2236902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2E5EEB0-108B-296E-99BA-1309A0179392}"/>
              </a:ext>
            </a:extLst>
          </p:cNvPr>
          <p:cNvSpPr>
            <a:spLocks noGrp="1"/>
          </p:cNvSpPr>
          <p:nvPr>
            <p:ph type="body" idx="1"/>
          </p:nvPr>
        </p:nvSpPr>
        <p:spPr>
          <a:xfrm>
            <a:off x="535940" y="1066801"/>
            <a:ext cx="8073390" cy="5816977"/>
          </a:xfrm>
        </p:spPr>
        <p:txBody>
          <a:bodyPr/>
          <a:lstStyle/>
          <a:p>
            <a:pPr algn="just"/>
            <a:r>
              <a:rPr lang="en-IN" dirty="0"/>
              <a:t>[8] M. S. De La Cruz, A. P. Young, and M. T. Ruffin. "Diagnosis and management of pancreatic cancer," American Family Physician, vol. 89, no. 8, pp. 626-632, April 2014.</a:t>
            </a:r>
          </a:p>
          <a:p>
            <a:pPr algn="just"/>
            <a:r>
              <a:rPr lang="en-IN" dirty="0"/>
              <a:t>[9] </a:t>
            </a:r>
            <a:r>
              <a:rPr lang="en-IN" dirty="0" err="1"/>
              <a:t>Kuroczycki-Saniutycz</a:t>
            </a:r>
            <a:r>
              <a:rPr lang="en-IN" dirty="0"/>
              <a:t> et al., "Prevention of pancreatic cancer," Contemporary Oncology (</a:t>
            </a:r>
            <a:r>
              <a:rPr lang="en-IN" dirty="0" err="1"/>
              <a:t>Pozn</a:t>
            </a:r>
            <a:r>
              <a:rPr lang="en-IN" dirty="0"/>
              <a:t>), vol. 21, no. 1, pp. 30–34, February 2017.</a:t>
            </a:r>
          </a:p>
          <a:p>
            <a:pPr algn="just"/>
            <a:r>
              <a:rPr lang="en-IN" dirty="0"/>
              <a:t>[10] </a:t>
            </a:r>
            <a:r>
              <a:rPr lang="en-IN" dirty="0" err="1"/>
              <a:t>Vareedayah</a:t>
            </a:r>
            <a:r>
              <a:rPr lang="en-IN" dirty="0"/>
              <a:t>, S. </a:t>
            </a:r>
            <a:r>
              <a:rPr lang="en-IN" dirty="0" err="1"/>
              <a:t>Alkaade</a:t>
            </a:r>
            <a:r>
              <a:rPr lang="en-IN" dirty="0"/>
              <a:t>, and J. R. Taylor, "Pancreatic Adenocarcinoma," Missouri Medicine, vol. 115, no. 3, pp. 230–235, May/June 2018.</a:t>
            </a:r>
          </a:p>
          <a:p>
            <a:pPr algn="just"/>
            <a:r>
              <a:rPr lang="en-IN" dirty="0"/>
              <a:t>[11] </a:t>
            </a:r>
            <a:r>
              <a:rPr lang="en-IN" dirty="0" err="1"/>
              <a:t>Capasso</a:t>
            </a:r>
            <a:r>
              <a:rPr lang="en-IN" dirty="0"/>
              <a:t>, M., et al., "Epidemiology and risk factors of pancreatic cancer," Acta Bio Medica </a:t>
            </a:r>
            <a:r>
              <a:rPr lang="en-IN" dirty="0" err="1"/>
              <a:t>Atenei</a:t>
            </a:r>
            <a:r>
              <a:rPr lang="en-IN" dirty="0"/>
              <a:t> </a:t>
            </a:r>
            <a:r>
              <a:rPr lang="en-IN" dirty="0" err="1"/>
              <a:t>Parmensis</a:t>
            </a:r>
            <a:r>
              <a:rPr lang="en-IN" dirty="0"/>
              <a:t>, vol. 89, no. 9-S pp. 141-146, December 2018.</a:t>
            </a:r>
          </a:p>
          <a:p>
            <a:pPr algn="just"/>
            <a:r>
              <a:rPr lang="en-IN" dirty="0"/>
              <a:t>[12] T. Nadira and Z. Rustam. "Classification of cancer data using support vector machines with features selection method based on global artificial bee colony," AIP Conference Proceedings, vol. 2023, October 2018.</a:t>
            </a:r>
          </a:p>
          <a:p>
            <a:pPr algn="just"/>
            <a:r>
              <a:rPr lang="en-IN" dirty="0"/>
              <a:t>[13] </a:t>
            </a:r>
            <a:r>
              <a:rPr lang="en-IN" dirty="0" err="1"/>
              <a:t>Aroef</a:t>
            </a:r>
            <a:r>
              <a:rPr lang="en-IN" dirty="0"/>
              <a:t>, </a:t>
            </a:r>
            <a:r>
              <a:rPr lang="en-IN" dirty="0" err="1"/>
              <a:t>Rivan</a:t>
            </a:r>
            <a:r>
              <a:rPr lang="en-IN" dirty="0"/>
              <a:t>, &amp; Rustam, "Comparing random forest and support vector machines for breast cancer classification," TELKOMNIKA (Telecommunication Computing Electronics and Control), vol. 18, no. 2, pp. 815-821, April 2020.</a:t>
            </a:r>
          </a:p>
          <a:p>
            <a:pPr algn="just"/>
            <a:r>
              <a:rPr lang="en-IN" dirty="0"/>
              <a:t>[14] U. </a:t>
            </a:r>
            <a:r>
              <a:rPr lang="en-IN" dirty="0" err="1"/>
              <a:t>Aprilliani</a:t>
            </a:r>
            <a:r>
              <a:rPr lang="en-IN" dirty="0"/>
              <a:t> and Z. Rustam, "Osteoarthritis disease prediction based on random forest," in 2018 International Conference on Advanced Computer Science and Information Systems (ICACSIS), Yogyakarta, pp. 237–240.</a:t>
            </a:r>
          </a:p>
          <a:p>
            <a:pPr algn="just"/>
            <a:r>
              <a:rPr lang="en-IN" dirty="0"/>
              <a:t>[15] M. </a:t>
            </a:r>
            <a:r>
              <a:rPr lang="en-IN" dirty="0" err="1"/>
              <a:t>Huljanah</a:t>
            </a:r>
            <a:r>
              <a:rPr lang="en-IN" dirty="0"/>
              <a:t>, Z. Rustam, S. Utama, and T. </a:t>
            </a:r>
            <a:r>
              <a:rPr lang="en-IN" dirty="0" err="1"/>
              <a:t>Siswantining</a:t>
            </a:r>
            <a:r>
              <a:rPr lang="en-IN" dirty="0"/>
              <a:t>. "Feature Selection using Random Forest Classifier for Predicting Prostate Cancer," IOP Conf. Ser.: Mater. Sci. Eng, vol. 546, no. 5, July 2019.</a:t>
            </a:r>
          </a:p>
          <a:p>
            <a:endParaRPr lang="en-IN" dirty="0"/>
          </a:p>
        </p:txBody>
      </p:sp>
    </p:spTree>
    <p:extLst>
      <p:ext uri="{BB962C8B-B14F-4D97-AF65-F5344CB8AC3E}">
        <p14:creationId xmlns:p14="http://schemas.microsoft.com/office/powerpoint/2010/main" val="740307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191511" y="1644395"/>
            <a:ext cx="4760976" cy="3569207"/>
          </a:xfrm>
          <a:prstGeom prst="rect">
            <a:avLst/>
          </a:prstGeom>
        </p:spPr>
      </p:pic>
      <p:sp>
        <p:nvSpPr>
          <p:cNvPr id="3" name="object 3"/>
          <p:cNvSpPr txBox="1">
            <a:spLocks noGrp="1"/>
          </p:cNvSpPr>
          <p:nvPr>
            <p:ph type="sldNum" sz="quarter" idx="7"/>
          </p:nvPr>
        </p:nvSpPr>
        <p:spPr>
          <a:prstGeom prst="rect">
            <a:avLst/>
          </a:prstGeom>
        </p:spPr>
        <p:txBody>
          <a:bodyPr vert="horz" wrap="square" lIns="0" tIns="8255" rIns="0" bIns="0" rtlCol="0">
            <a:spAutoFit/>
          </a:bodyPr>
          <a:lstStyle/>
          <a:p>
            <a:pPr marL="38100">
              <a:lnSpc>
                <a:spcPct val="100000"/>
              </a:lnSpc>
              <a:spcBef>
                <a:spcPts val="65"/>
              </a:spcBef>
            </a:pPr>
            <a:fld id="{81D60167-4931-47E6-BA6A-407CBD079E47}" type="slidenum">
              <a:rPr dirty="0"/>
              <a:t>28</a:t>
            </a:fld>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1990</TotalTime>
  <Words>3286</Words>
  <Application>Microsoft Office PowerPoint</Application>
  <PresentationFormat>On-screen Show (4:3)</PresentationFormat>
  <Paragraphs>213</Paragraphs>
  <Slides>28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JetBrains Mono</vt:lpstr>
      <vt:lpstr>Segoe UI</vt:lpstr>
      <vt:lpstr>Söhne</vt:lpstr>
      <vt:lpstr>Times New Roman</vt:lpstr>
      <vt:lpstr>Wingdings</vt:lpstr>
      <vt:lpstr>Office Theme</vt:lpstr>
      <vt:lpstr> Detection of Pancreatic Cancer</vt:lpstr>
      <vt:lpstr>Contents</vt:lpstr>
      <vt:lpstr>ABSTRACT</vt:lpstr>
      <vt:lpstr>INTRODUCTION</vt:lpstr>
      <vt:lpstr>                              EXISTING SYSTEM </vt:lpstr>
      <vt:lpstr> PURPOSE</vt:lpstr>
      <vt:lpstr>HARDWARE AND SOFTWARE REQUIREMENTS</vt:lpstr>
      <vt:lpstr>FUNCTIONAL REQUIREMENTS</vt:lpstr>
      <vt:lpstr>NON FUNCTIONAL REQUIREMENTS</vt:lpstr>
      <vt:lpstr>Architecture</vt:lpstr>
      <vt:lpstr> System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 SCREENS</vt:lpstr>
      <vt:lpstr>PowerPoint Presentation</vt:lpstr>
      <vt:lpstr>PowerPoint Presentation</vt:lpstr>
      <vt:lpstr>CONCLUSION</vt:lpstr>
      <vt:lpstr>Future Scope</vt:lpstr>
      <vt:lpstr>REFERENCE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siva sai</cp:lastModifiedBy>
  <cp:revision>9</cp:revision>
  <dcterms:created xsi:type="dcterms:W3CDTF">2024-01-04T16:26:10Z</dcterms:created>
  <dcterms:modified xsi:type="dcterms:W3CDTF">2024-04-06T06:05:32Z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2024-01-04T00:00:00Z</vt:filetime>
  </property>
  <property fmtid="{D5CDD505-2E9C-101B-9397-08002B2CF9AE}" pid="3" name="Creator">
    <vt:lpwstr>Microsoft® PowerPoint® 2019</vt:lpwstr>
  </property>
  <property fmtid="{D5CDD505-2E9C-101B-9397-08002B2CF9AE}" pid="4" name="LastSaved">
    <vt:filetime>2024-01-04T00:00:00Z</vt:filetime>
  </property>
</Properties>
</file>